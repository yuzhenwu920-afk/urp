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8" r:id="rId19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68" y="3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主讲第1页 URP项目答辩</a:t>
            </a:r>
          </a:p>
          <a:p>
            <a:r>
              <a:t>时间：00:00至00:15（15秒）</a:t>
            </a:r>
          </a:p>
          <a:p/>
          <a:p>
            <a:r>
              <a:t>【口播稿】</a:t>
            </a:r>
          </a:p>
          <a:p>
            <a:r>
              <a:t>各位老师好，我们汇报的主题是膜下滴灌玉米灌溉制度优化。研究围绕四年资料，连接参数校准、敏感性分析与五期灌水优化，并用水量核算解释结果。</a:t>
            </a:r>
          </a:p>
          <a:p/>
          <a:p>
            <a:r>
              <a:t>【数据与切页提示】</a:t>
            </a:r>
          </a:p>
          <a:p>
            <a:r>
              <a:t>本次汇报聚焦DI玉米，正式项目名称保留原立项名称。</a:t>
            </a:r>
          </a:p>
          <a:p>
            <a:r>
              <a:t>主讲第9页结束即为5分钟。后续为备答页，按提问选择。</a:t>
            </a:r>
          </a:p>
          <a:p>
            <a:r>
              <a:t>资料来源与补充说明：</a:t>
            </a:r>
          </a:p>
          <a:p>
            <a:r>
              <a:t>2026.10.25；项目编号X2026100190937；基于马尔科夫链的不同灌溉方式灌溉制度优化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主讲第2页 研究聚焦</a:t>
            </a:r>
          </a:p>
          <a:p>
            <a:r>
              <a:t>时间：00:15至00:45（30秒）</a:t>
            </a:r>
          </a:p>
          <a:p/>
          <a:p>
            <a:r>
              <a:t>【口播稿】</a:t>
            </a:r>
          </a:p>
          <a:p>
            <a:r>
              <a:t>研究采用甘肃武威2019至2022年膜下滴灌玉米既有观测资料。四年灌水量约为405至633毫米，产量约为14.08至17.29吨每公顷。我们整理了48个冠层覆盖度配对和37个生物量配对，并接入气象、土壤及灌水日程。研究主要回答三个问题：需要灌多少水，在哪些生育期灌，以及较低灌水量下支撑产量的水来自哪里。</a:t>
            </a:r>
          </a:p>
          <a:p/>
          <a:p>
            <a:r>
              <a:t>【数据与切页提示】</a:t>
            </a:r>
          </a:p>
          <a:p>
            <a:r>
              <a:t>2019/20/21/22原季节灌水量445.27/559.76/633.47/404.84 mm。请直接概括范围，无需逐行朗读。完整数据来源仅在参考文献中按编号说明。</a:t>
            </a:r>
          </a:p>
          <a:p>
            <a:r>
              <a:t>主讲第9页结束即为5分钟。后续为备答页，按提问选择。</a:t>
            </a:r>
          </a:p>
          <a:p>
            <a:r>
              <a:t>资料来源与补充说明：</a:t>
            </a:r>
          </a:p>
          <a:p>
            <a:r>
              <a:t>田间资料[1]；CC由LAI换算，生物量由已发表图件数字化；气象与辅助遥感资料分别归档。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主讲第3页 研究流程</a:t>
            </a:r>
          </a:p>
          <a:p>
            <a:r>
              <a:t>时间：00:45至01:20（35秒）</a:t>
            </a:r>
          </a:p>
          <a:p/>
          <a:p>
            <a:r>
              <a:t>【口播稿】</a:t>
            </a:r>
          </a:p>
          <a:p>
            <a:r>
              <a:t>技术路线分三步。首先，两阶段MCMC先利用冠层和耗水指标确定五个参数，再利用生物量和产量确定三个生产参数。其次，Sobol在共同独立参数范围内比较四年敏感性。最后，使用两种遗传算法求解产量与实际灌水量的权衡。五个生育期各设最多三次可选灌水，零水量取消，同时优化十五个水量和十五个日期。主分析保持原模型物理设定，结构补充试验单列。</a:t>
            </a:r>
          </a:p>
          <a:p/>
          <a:p>
            <a:r>
              <a:t>【数据与切页提示】</a:t>
            </a:r>
          </a:p>
          <a:p>
            <a:r>
              <a:t>主模型是四年原始结构，fMulch=0为关闭额外蒸发抑制的复现基线。2021年1 m根深与fMulch条件拟合不是此页主模型。正式和全范围优化共457,596次目标查询。</a:t>
            </a:r>
          </a:p>
          <a:p>
            <a:r>
              <a:t>主讲第9页结束即为5分钟。后续为备答页，按提问选择。</a:t>
            </a:r>
          </a:p>
          <a:p>
            <a:r>
              <a:t>资料来源与补充说明：</a:t>
            </a:r>
          </a:p>
          <a:p>
            <a:r>
              <a:t>方法：[3至6,8,9]；主模型固定原参数结构、年度天气与初始含水量，补充结构试验单列。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主讲第4页 MCMC动态采样与校准——生长数据精度</a:t>
            </a:r>
          </a:p>
          <a:p>
            <a:r>
              <a:t>时间：01:20至01:55（35秒）</a:t>
            </a:r>
          </a:p>
          <a:p/>
          <a:p>
            <a:r>
              <a:t>【口播稿】</a:t>
            </a:r>
          </a:p>
          <a:p>
            <a:r>
              <a:t>左图展示冠层覆盖度，右图展示地上生物量，颜色区分四个年份。大部分配对点接近一比一线。四年冠层拟合决定系数为0.931至0.993，生物量为0.969至0.997；年度产量相对偏差为负4.18%至正0.92%。这些结果描述了参数中心对生长和产量的拟合效果。下一页进一步检查采样过程与链的收敛性。</a:t>
            </a:r>
          </a:p>
          <a:p/>
          <a:p>
            <a:r>
              <a:t>【数据与切页提示】</a:t>
            </a:r>
          </a:p>
          <a:p>
            <a:r>
              <a:t>图中虚线为1:1线。决定系数区间来自各年度源表，不是合并散点OLS指标。完整原链Rhat、ESS见备答。</a:t>
            </a:r>
          </a:p>
          <a:p>
            <a:r>
              <a:t>主讲第9页结束即为5分钟。后续为备答页，按提问选择。</a:t>
            </a:r>
          </a:p>
          <a:p>
            <a:r>
              <a:t>资料来源与补充说明：</a:t>
            </a:r>
          </a:p>
          <a:p>
            <a:r>
              <a:t>校准配对48个CC、37个生物量；年度R2由完整配对计算；原链诊断另列备答。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主讲第6页 Sobol敏感性分析</a:t>
            </a:r>
          </a:p>
          <a:p>
            <a:r>
              <a:t>时间：02:30至03:00（30秒）</a:t>
            </a:r>
          </a:p>
          <a:p/>
          <a:p>
            <a:r>
              <a:t>【口播稿】</a:t>
            </a:r>
          </a:p>
          <a:p>
            <a:r>
              <a:t>敏感性分析表明，四年年平均结果中，晚期水分生产率、收获指数、早期水分生产率和基础作物系数的排序保持一致，但贡献幅度存在年际变化。晚期水分生产率的总效应指数四年均值为0.396，位居首位。这里的平均是共同独立输入范围下的四年等权描述，保留逐年结果共同解释。</a:t>
            </a:r>
          </a:p>
          <a:p/>
          <a:p>
            <a:r>
              <a:t>【数据与切页提示】</a:t>
            </a:r>
          </a:p>
          <a:p>
            <a:r>
              <a:t>ST并非百分比份额，不要求求和为1。图左为逐年三个随机化序列的平均，图右再对四年等权平均；这是公共独立范围敏感性，不是相关后验敏感性。</a:t>
            </a:r>
          </a:p>
          <a:p>
            <a:r>
              <a:t>主讲第9页结束即为5分钟。后续为备答页，按提问选择。</a:t>
            </a:r>
          </a:p>
          <a:p>
            <a:r>
              <a:t>资料来源与补充说明：</a:t>
            </a:r>
          </a:p>
          <a:p>
            <a:r>
              <a:t>共同独立均匀输入范围；N=512 x 3随机化序列；四年61,440次模型评估。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主讲第7页 NSGA优化——Pareto Frontier</a:t>
            </a:r>
          </a:p>
          <a:p>
            <a:r>
              <a:t>时间：03:00至03:45（45秒）</a:t>
            </a:r>
          </a:p>
          <a:p/>
          <a:p>
            <a:r>
              <a:t>【口播稿】</a:t>
            </a:r>
          </a:p>
          <a:p>
            <a:r>
              <a:t>这页给出四年的产量与灌水权衡。蓝色虚线连接全范围搜索得到的非支配解，星号是原DI模型基准，橙圈是正式搜索按95%观测产量门槛选出的候选。四年候选灌水量分别约为210、306、264和257毫米。每个候选都对应完整的逐次日期和水量。两种遗传算法获得相近的最低灌水区间。面对看起来很大的减灌幅度，我们进一步追踪水量来源，而不是只用这张图直接给出田间定额。</a:t>
            </a:r>
          </a:p>
          <a:p/>
          <a:p>
            <a:r>
              <a:t>【数据与切页提示】</a:t>
            </a:r>
          </a:p>
          <a:p>
            <a:r>
              <a:t>95%是确定产量水平门槛，不是95%保证概率。蓝线展示补充全范围搜索，橙圈来自正式搜索，二者来源分别说明。棕色点线为95%观测产量参考。所有图显示未经任意平滑的原计算解连线。</a:t>
            </a:r>
          </a:p>
          <a:p>
            <a:r>
              <a:t>主讲第9页结束即为5分钟。后续为备答页，按提问选择。</a:t>
            </a:r>
          </a:p>
          <a:p>
            <a:r>
              <a:t>资料来源与补充说明：</a:t>
            </a:r>
          </a:p>
          <a:p>
            <a:r>
              <a:t>全范围展示前沿：3种子x80个体x60代/年；正式95%门槛候选：5种子最终种群可行非支配解并集。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主讲第8页 NSGA优化——土壤储水分析</a:t>
            </a:r>
          </a:p>
          <a:p>
            <a:r>
              <a:t>时间：03:45至04:35（50秒）</a:t>
            </a:r>
          </a:p>
          <a:p/>
          <a:p>
            <a:r>
              <a:t>【口播稿】</a:t>
            </a:r>
          </a:p>
          <a:p>
            <a:r>
              <a:t>水量核算是解释结果的关键。左图把减灌量拆分为蒸散变化、季末储水差和其他损失差。四年蒸散仅下降1.89%至5.98%，季末储水差则解释了81.09%至96.72%的减灌量。以2021年为例，少灌368.97毫米，其中356.85毫米对应季末储水差，11.46毫米对应蒸散减少，其他差额约0.66毫米。因此，较低灌水候选主要利用了基准日程增储与初始土壤水的缓冲。后续田间方案应配套季末储水及设备供水条件。</a:t>
            </a:r>
          </a:p>
          <a:p/>
          <a:p>
            <a:r>
              <a:t>【数据与切页提示】</a:t>
            </a:r>
          </a:p>
          <a:p>
            <a:r>
              <a:t>2021年：原633.47、候选264.499975 mm，差368.970025 mm。储水差356.853567、ET差11.459783、其他差0.656675 mm。正文约数0.66+11.46+356.85=368.97。原初始535.70 mm，原日程终值705.67，候选348.82 mm。</a:t>
            </a:r>
          </a:p>
          <a:p>
            <a:r>
              <a:t>主讲第9页结束即为5分钟。后续为备答页，按提问选择。</a:t>
            </a:r>
          </a:p>
          <a:p>
            <a:r>
              <a:t>资料来源与补充说明：</a:t>
            </a:r>
          </a:p>
          <a:p>
            <a:r>
              <a:t>对照保持同一年天气、参数中心和初始水分；储水核算范围为相同0至2.4 m模拟剖面。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主讲第9页 研究的优势：过程可复现，决策可细化，机制可解释</a:t>
            </a:r>
          </a:p>
          <a:p>
            <a:r>
              <a:t>时间：04:35至05:00（25秒）</a:t>
            </a:r>
          </a:p>
          <a:p/>
          <a:p>
            <a:r>
              <a:t>【口播稿】</a:t>
            </a:r>
          </a:p>
          <a:p>
            <a:r>
              <a:t>我们完成了四年多指标校准、敏感性分析和五期逐次灌水优化，并通过储水核算明确减灌量的组成。下一步重点提升采样精度，结合季末储水、单次供水能力和灌水间隔细化实施方案。感谢各位老师，请批评指正。</a:t>
            </a:r>
          </a:p>
          <a:p/>
          <a:p>
            <a:r>
              <a:t>【数据与切页提示】</a:t>
            </a:r>
          </a:p>
          <a:p>
            <a:r>
              <a:t>按计划5分钟结束。后面4页为备答，不主动展开；根据老师提问跳转。</a:t>
            </a:r>
          </a:p>
          <a:p>
            <a:r>
              <a:t>主讲第9页结束即为5分钟。后续为备答页，按提问选择。</a:t>
            </a:r>
          </a:p>
          <a:p>
            <a:r>
              <a:t>资料来源与补充说明：</a:t>
            </a:r>
          </a:p>
          <a:p>
            <a:r>
              <a:t>项目组：吴雨臻、李承昊、段璞     指导教师：廖人宽     中国农业大学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【备答，不计入5分钟】</a:t>
            </a:r>
          </a:p>
          <a:p>
            <a:r>
              <a:t>四年阶段一均未达到原严格采样参考标准；不能以多条walker展平后充当独立长链。阶段二每年仅一个独立ensemble，链间一致性无法按同一方式评价。主结果使用原保留均值作确定性模拟。2021年根深1 m与不同fMulch条件重校准是独立补充试验，不替代本页四年主设定。</a:t>
            </a:r>
          </a:p>
          <a:p>
            <a:r>
              <a:t>资料来源与补充说明：</a:t>
            </a:r>
          </a:p>
          <a:p>
            <a:r>
              <a:t>诊断：[15]；按时间轴比较独立ensemble的同编号walker组，组间依赖不作简单累加。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【备答，不计入5分钟】</a:t>
            </a:r>
          </a:p>
          <a:p>
            <a:r>
              <a:t>图件显示全部正水量事件，包括微量正数。四年全部正事件数12、13、9、8；至少0.1 mm为8、8、3、6。每期最多3个可选槽位，零量取消、同日合并。2021年另有6个&lt;0.1 mm微量事件；主方案计算未擅自删除，实施时应先加入最低可执行水量等设备条件后再评价。</a:t>
            </a:r>
          </a:p>
          <a:p>
            <a:r>
              <a:t>资料来源与补充说明：</a:t>
            </a:r>
          </a:p>
          <a:p>
            <a:r>
              <a:t>42条正水量记录完整保留；至少0.1 mm事件数另计。完整日期、水量及五期合计见随附数据工作簿。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【备答，不计入5分钟】</a:t>
            </a:r>
          </a:p>
          <a:p>
            <a:r>
              <a:t>先给出问题的直接结论，再引用对应数据。不要将减灌量直接解释成ET节约，不将95%产量门槛说成概率保证，不把公共独立范围Sobol说成相关后验敏感性，不把1 m覆膜试验混成四年原模型。</a:t>
            </a:r>
          </a:p>
          <a:p>
            <a:r>
              <a:t>资料来源与补充说明：</a:t>
            </a:r>
          </a:p>
          <a:p>
            <a:r>
              <a:t>回答依据：四年主结果、原链诊断、逐日水量账与条件结构试验；不混用不同模型设定。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备答，不计入5分钟。主要数据来源引用[1]，完整文献题名、作者和DOI在随附元数据与当前论文中保留。</a:t>
            </a:r>
          </a:p>
          <a:p>
            <a:r>
              <a:t>资料来源与补充说明：</a:t>
            </a:r>
          </a:p>
          <a:p>
            <a:r>
              <a:t>完整文献及DOI见随附REFERENCE_EVIDENCE.json；编号沿用当前论文。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主讲第5页 MCMC动态采样与校准 马尔可夫链收敛性</a:t>
            </a:r>
          </a:p>
          <a:p>
            <a:r>
              <a:t>时间：01:55至02:30（35秒）</a:t>
            </a:r>
          </a:p>
          <a:p/>
          <a:p>
            <a:r>
              <a:t>【口播稿】</a:t>
            </a:r>
          </a:p>
          <a:p>
            <a:r>
              <a:t>拟合精度之后，还需要检查采样过程。左图以2021年为例，展示四组独立初始化原链中代表walker的真实参数轨迹；右表汇总四年的诊断结果。参数中心较稳定，但Rhat仍高于1.01，最小组有效样本量低于400。因此我们把过程拟合与分布采样精度分开报告，并将改进链的混合程度和有效样本量作为后续重点。</a:t>
            </a:r>
          </a:p>
          <a:p/>
          <a:p>
            <a:r>
              <a:t>【数据与切页提示】</a:t>
            </a:r>
          </a:p>
          <a:p>
            <a:r>
              <a:t>左图为2021年原始阶段一4个独立ensemble的同编号walker 0轨迹，完整2000步；两参数为CGC_CD与CDC_CD，不作时间平滑，不把耦合walker当作独立链。灰区为原诊断预热段347步，E1至E4为独立初始化ensemble。右表为每年全部5个阶段一参数及匹配walker组中最差Rhat与最小bulk ESS，保留原时间轴计算；ESS不跨依赖组相加。阶段二每年只有1个独立ensemble，按条件校准另行报告。原链未达到Rhat小于1.01、bulk/tail ESS至少400的参考目标；中心对截取较稳定不等于分布已经充分收敛。本次只新增展示页，无新MCMC计算。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F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98485" y="31090"/>
            <a:ext cx="3820363" cy="6744612"/>
          </a:xfrm>
          <a:prstGeom prst="rect">
            <a:avLst/>
          </a:prstGeom>
          <a:solidFill>
            <a:srgbClr val="193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457200"/>
            <a:ext cx="640080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dirty="0" err="1">
                <a:solidFill>
                  <a:srgbClr val="B9D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URP项目答辩</a:t>
            </a:r>
            <a:endParaRPr sz="2200" b="1" dirty="0">
              <a:solidFill>
                <a:srgbClr val="B9D4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" y="1572768"/>
            <a:ext cx="6537960" cy="178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膜下滴灌玉米</a:t>
            </a:r>
            <a:endParaRPr sz="4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灌溉制度优化</a:t>
            </a:r>
            <a:endParaRPr sz="4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0935" y="3675887"/>
            <a:ext cx="7406945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 err="1">
                <a:solidFill>
                  <a:srgbClr val="D6E7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四年资料</a:t>
            </a:r>
            <a:endParaRPr sz="2400" b="0" dirty="0">
              <a:solidFill>
                <a:srgbClr val="D6E7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dirty="0" err="1">
                <a:solidFill>
                  <a:srgbClr val="D6E7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MCMC校准</a:t>
            </a:r>
            <a:r>
              <a:rPr lang="en-US" sz="2400" b="0" dirty="0">
                <a:solidFill>
                  <a:srgbClr val="D6E7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2400" dirty="0">
                <a:solidFill>
                  <a:srgbClr val="D6E7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</a:t>
            </a:r>
            <a:r>
              <a:rPr sz="2400" b="0" dirty="0">
                <a:solidFill>
                  <a:srgbClr val="D6E7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Sobol</a:t>
            </a:r>
            <a:r>
              <a:rPr lang="zh-CN" altLang="en-US" sz="2400" b="0" dirty="0">
                <a:solidFill>
                  <a:srgbClr val="D6E7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敏感性</a:t>
            </a:r>
            <a:r>
              <a:rPr sz="2400" b="0" dirty="0" err="1">
                <a:solidFill>
                  <a:srgbClr val="D6E7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</a:t>
            </a:r>
            <a:r>
              <a:rPr sz="2400" b="0" dirty="0">
                <a:solidFill>
                  <a:srgbClr val="D6E7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2400" b="0" dirty="0">
                <a:solidFill>
                  <a:srgbClr val="D6E7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sz="2400" b="0" dirty="0">
                <a:solidFill>
                  <a:srgbClr val="D6E7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2400" b="0" dirty="0" err="1">
                <a:solidFill>
                  <a:srgbClr val="D6E7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NSGA</a:t>
            </a:r>
            <a:r>
              <a:rPr sz="2400" b="0" dirty="0" err="1">
                <a:solidFill>
                  <a:srgbClr val="D6E7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五期优化</a:t>
            </a:r>
            <a:endParaRPr sz="2400" b="0" dirty="0">
              <a:solidFill>
                <a:srgbClr val="D6E7D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5266944"/>
            <a:ext cx="630936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吴雨臻  李承昊  段璞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06440"/>
            <a:ext cx="64922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B9D4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指导教师：廖人宽  中国农业大学</a:t>
            </a:r>
          </a:p>
        </p:txBody>
      </p:sp>
      <p:cxnSp>
        <p:nvCxnSpPr>
          <p:cNvPr id="9" name="Connector 8"/>
          <p:cNvCxnSpPr>
            <a:cxnSpLocks/>
          </p:cNvCxnSpPr>
          <p:nvPr/>
        </p:nvCxnSpPr>
        <p:spPr>
          <a:xfrm flipV="1">
            <a:off x="8506968" y="4590287"/>
            <a:ext cx="3511906" cy="27433"/>
          </a:xfrm>
          <a:prstGeom prst="line">
            <a:avLst/>
          </a:prstGeom>
          <a:ln w="8890">
            <a:solidFill>
              <a:srgbClr val="315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9028175" y="996696"/>
            <a:ext cx="2834640" cy="2834640"/>
          </a:xfrm>
          <a:prstGeom prst="ellipse">
            <a:avLst/>
          </a:prstGeom>
          <a:noFill/>
          <a:ln w="12700">
            <a:solidFill>
              <a:srgbClr val="315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339072" y="1298448"/>
            <a:ext cx="2267712" cy="2267712"/>
          </a:xfrm>
          <a:prstGeom prst="ellipse">
            <a:avLst/>
          </a:prstGeom>
          <a:noFill/>
          <a:ln w="12700">
            <a:solidFill>
              <a:srgbClr val="315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649968" y="1600200"/>
            <a:ext cx="1700784" cy="1700784"/>
          </a:xfrm>
          <a:prstGeom prst="ellipse">
            <a:avLst/>
          </a:prstGeom>
          <a:noFill/>
          <a:ln w="12700">
            <a:solidFill>
              <a:srgbClr val="315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612123" y="4165091"/>
            <a:ext cx="155448" cy="155448"/>
          </a:xfrm>
          <a:prstGeom prst="ellipse">
            <a:avLst/>
          </a:prstGeom>
          <a:solidFill>
            <a:srgbClr val="B9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>
            <a:off x="8689848" y="4425696"/>
            <a:ext cx="0" cy="219456"/>
          </a:xfrm>
          <a:prstGeom prst="line">
            <a:avLst/>
          </a:prstGeom>
          <a:ln w="10160">
            <a:solidFill>
              <a:srgbClr val="4D8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506968" y="4663439"/>
            <a:ext cx="96012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dirty="0" err="1">
                <a:solidFill>
                  <a:srgbClr val="D0E3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苗期</a:t>
            </a:r>
            <a:endParaRPr sz="1500" b="0" dirty="0">
              <a:solidFill>
                <a:srgbClr val="D0E3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 flipV="1">
            <a:off x="8689848" y="3758184"/>
            <a:ext cx="694944" cy="484632"/>
          </a:xfrm>
          <a:prstGeom prst="line">
            <a:avLst/>
          </a:prstGeom>
          <a:ln w="25400">
            <a:solidFill>
              <a:srgbClr val="80BA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307068" y="3680460"/>
            <a:ext cx="155448" cy="155448"/>
          </a:xfrm>
          <a:prstGeom prst="ellipse">
            <a:avLst/>
          </a:prstGeom>
          <a:solidFill>
            <a:srgbClr val="B9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>
            <a:cxnSpLocks/>
          </p:cNvCxnSpPr>
          <p:nvPr/>
        </p:nvCxnSpPr>
        <p:spPr>
          <a:xfrm>
            <a:off x="9384792" y="3941064"/>
            <a:ext cx="0" cy="649223"/>
          </a:xfrm>
          <a:prstGeom prst="line">
            <a:avLst/>
          </a:prstGeom>
          <a:ln w="10160">
            <a:solidFill>
              <a:srgbClr val="4D8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097061" y="4670755"/>
            <a:ext cx="96012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dirty="0" err="1">
                <a:solidFill>
                  <a:srgbClr val="D0E3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拔节期</a:t>
            </a:r>
            <a:endParaRPr sz="1500" b="0" dirty="0">
              <a:solidFill>
                <a:srgbClr val="D0E3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 flipV="1">
            <a:off x="9384792" y="3337560"/>
            <a:ext cx="667512" cy="420624"/>
          </a:xfrm>
          <a:prstGeom prst="line">
            <a:avLst/>
          </a:prstGeom>
          <a:ln w="25400">
            <a:solidFill>
              <a:srgbClr val="80BA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9974580" y="3259836"/>
            <a:ext cx="155448" cy="155448"/>
          </a:xfrm>
          <a:prstGeom prst="ellipse">
            <a:avLst/>
          </a:prstGeom>
          <a:solidFill>
            <a:srgbClr val="B9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" name="Connector 25"/>
          <p:cNvCxnSpPr>
            <a:cxnSpLocks/>
          </p:cNvCxnSpPr>
          <p:nvPr/>
        </p:nvCxnSpPr>
        <p:spPr>
          <a:xfrm>
            <a:off x="10052304" y="3529583"/>
            <a:ext cx="0" cy="1060704"/>
          </a:xfrm>
          <a:prstGeom prst="line">
            <a:avLst/>
          </a:prstGeom>
          <a:ln w="10160">
            <a:solidFill>
              <a:srgbClr val="4D8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760915" y="4654295"/>
            <a:ext cx="96012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dirty="0" err="1">
                <a:solidFill>
                  <a:srgbClr val="D0E3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抽穗期</a:t>
            </a:r>
            <a:endParaRPr sz="1500" b="0" dirty="0">
              <a:solidFill>
                <a:srgbClr val="D0E3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 flipV="1">
            <a:off x="10052304" y="2880360"/>
            <a:ext cx="694944" cy="457200"/>
          </a:xfrm>
          <a:prstGeom prst="line">
            <a:avLst/>
          </a:prstGeom>
          <a:ln w="25400">
            <a:solidFill>
              <a:srgbClr val="80BA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10669524" y="2802636"/>
            <a:ext cx="155448" cy="155448"/>
          </a:xfrm>
          <a:prstGeom prst="ellipse">
            <a:avLst/>
          </a:prstGeom>
          <a:solidFill>
            <a:srgbClr val="B9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0" name="Connector 29"/>
          <p:cNvCxnSpPr>
            <a:cxnSpLocks/>
          </p:cNvCxnSpPr>
          <p:nvPr/>
        </p:nvCxnSpPr>
        <p:spPr>
          <a:xfrm>
            <a:off x="10747248" y="3063240"/>
            <a:ext cx="0" cy="1527047"/>
          </a:xfrm>
          <a:prstGeom prst="line">
            <a:avLst/>
          </a:prstGeom>
          <a:ln w="10160">
            <a:solidFill>
              <a:srgbClr val="4D8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471404" y="4654295"/>
            <a:ext cx="96012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dirty="0" err="1">
                <a:solidFill>
                  <a:srgbClr val="D0E3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灌浆期</a:t>
            </a:r>
            <a:endParaRPr sz="1500" b="0" dirty="0">
              <a:solidFill>
                <a:srgbClr val="D0E3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 flipV="1">
            <a:off x="10747248" y="2532888"/>
            <a:ext cx="740664" cy="347472"/>
          </a:xfrm>
          <a:prstGeom prst="line">
            <a:avLst/>
          </a:prstGeom>
          <a:ln w="25400">
            <a:solidFill>
              <a:srgbClr val="80BA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1410188" y="2455164"/>
            <a:ext cx="155448" cy="155448"/>
          </a:xfrm>
          <a:prstGeom prst="ellipse">
            <a:avLst/>
          </a:prstGeom>
          <a:solidFill>
            <a:srgbClr val="D39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4" name="Connector 33"/>
          <p:cNvCxnSpPr>
            <a:cxnSpLocks/>
          </p:cNvCxnSpPr>
          <p:nvPr/>
        </p:nvCxnSpPr>
        <p:spPr>
          <a:xfrm flipH="1">
            <a:off x="11431524" y="2686051"/>
            <a:ext cx="56388" cy="1870173"/>
          </a:xfrm>
          <a:prstGeom prst="line">
            <a:avLst/>
          </a:prstGeom>
          <a:ln w="10160">
            <a:solidFill>
              <a:srgbClr val="4D8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1152632" y="4637834"/>
            <a:ext cx="960120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dirty="0" err="1">
                <a:solidFill>
                  <a:srgbClr val="D0E3D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成熟期</a:t>
            </a:r>
            <a:endParaRPr sz="1500" b="0" dirty="0">
              <a:solidFill>
                <a:srgbClr val="D0E3D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156192" y="5162702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玉米</a:t>
            </a:r>
            <a:r>
              <a:rPr sz="3200" b="1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生育期</a:t>
            </a:r>
            <a:endParaRPr sz="32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862816" y="6547104"/>
            <a:ext cx="65836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EC8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93192"/>
            <a:ext cx="112014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400" b="1" dirty="0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研究聚焦</a:t>
            </a:r>
            <a:endParaRPr sz="3400" b="1" dirty="0">
              <a:solidFill>
                <a:srgbClr val="163D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18520" y="6547104"/>
            <a:ext cx="65836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7408" y="1394460"/>
            <a:ext cx="5577840" cy="4846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500" b="1" dirty="0">
                <a:solidFill>
                  <a:srgbClr val="0C7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研究对象：</a:t>
            </a:r>
            <a:r>
              <a:rPr sz="2500" b="1" dirty="0" err="1">
                <a:solidFill>
                  <a:srgbClr val="0C7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甘肃武威</a:t>
            </a:r>
            <a:r>
              <a:rPr sz="2500" b="1" dirty="0">
                <a:solidFill>
                  <a:srgbClr val="0C7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500" b="1" dirty="0" err="1">
                <a:solidFill>
                  <a:srgbClr val="0C7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膜下滴灌玉米</a:t>
            </a:r>
            <a:endParaRPr sz="2500" b="1" dirty="0">
              <a:solidFill>
                <a:srgbClr val="0C7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7408" y="2124152"/>
            <a:ext cx="5825338" cy="2331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500" b="1" dirty="0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研究主线：</a:t>
            </a:r>
            <a:endParaRPr lang="en-US" altLang="zh-CN" sz="2500" b="1" dirty="0">
              <a:solidFill>
                <a:srgbClr val="163D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2000"/>
              </a:lnSpc>
            </a:pPr>
            <a:r>
              <a:rPr lang="zh-CN" altLang="en-US" sz="2500" b="1" dirty="0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水从哪里来？</a:t>
            </a:r>
            <a:r>
              <a:rPr lang="en-US" altLang="zh-CN" sz="2500" b="1" dirty="0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——MCMC</a:t>
            </a:r>
            <a:r>
              <a:rPr lang="zh-CN" altLang="en-US" sz="2500" b="1" dirty="0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动态采样校准</a:t>
            </a:r>
            <a:endParaRPr lang="en-US" altLang="zh-CN" sz="2500" b="1" dirty="0">
              <a:solidFill>
                <a:srgbClr val="163D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2000"/>
              </a:lnSpc>
            </a:pPr>
            <a:r>
              <a:rPr lang="zh-CN" altLang="en-US" sz="2500" b="1" dirty="0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水怎么影响产量？</a:t>
            </a:r>
            <a:r>
              <a:rPr lang="en-US" altLang="zh-CN" sz="2500" b="1" dirty="0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——Sobol</a:t>
            </a:r>
            <a:r>
              <a:rPr lang="zh-CN" altLang="en-US" sz="2500" b="1" dirty="0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敏感性分析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dirty="0" err="1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灌多少水</a:t>
            </a:r>
            <a:r>
              <a:rPr sz="2500" b="1" dirty="0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？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dirty="0" err="1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何时灌水</a:t>
            </a:r>
            <a:r>
              <a:rPr sz="2500" b="1" dirty="0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754880"/>
            <a:ext cx="155448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dirty="0">
                <a:solidFill>
                  <a:srgbClr val="0C7B74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5422392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年度资料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4754880"/>
            <a:ext cx="155448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C7B74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5422392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CC配对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4754880"/>
            <a:ext cx="155448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0C7B74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5422392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生物量配对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1507846"/>
            <a:ext cx="4965192" cy="42885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51776" y="1877264"/>
            <a:ext cx="4434840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dirty="0" err="1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四年田间观测</a:t>
            </a:r>
            <a:endParaRPr sz="2500" b="1" dirty="0">
              <a:solidFill>
                <a:srgbClr val="163D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88352" y="2517344"/>
            <a:ext cx="822960" cy="3749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517344"/>
            <a:ext cx="1645920" cy="3749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灌水量 mm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22408" y="2517344"/>
            <a:ext cx="1737360" cy="3749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产量 t/ha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60920" y="2873960"/>
            <a:ext cx="4416552" cy="0"/>
          </a:xfrm>
          <a:prstGeom prst="line">
            <a:avLst/>
          </a:prstGeom>
          <a:ln w="7620">
            <a:solidFill>
              <a:srgbClr val="D9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97496" y="3020264"/>
            <a:ext cx="8686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87BA3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2019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7928" y="3020264"/>
            <a:ext cx="128016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63D3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445.27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3020264"/>
            <a:ext cx="128016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63D3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16.55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60920" y="3495752"/>
            <a:ext cx="4416552" cy="0"/>
          </a:xfrm>
          <a:prstGeom prst="line">
            <a:avLst/>
          </a:prstGeom>
          <a:ln w="7620">
            <a:solidFill>
              <a:srgbClr val="D9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97496" y="3642056"/>
            <a:ext cx="8686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CE892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2020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67928" y="3642056"/>
            <a:ext cx="128016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63D3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559.76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3642056"/>
            <a:ext cx="128016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63D3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17.29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60920" y="4117544"/>
            <a:ext cx="4416552" cy="0"/>
          </a:xfrm>
          <a:prstGeom prst="line">
            <a:avLst/>
          </a:prstGeom>
          <a:ln w="7620">
            <a:solidFill>
              <a:srgbClr val="D9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397496" y="4263848"/>
            <a:ext cx="8686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A91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2021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67928" y="4263848"/>
            <a:ext cx="128016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63D3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633.47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4263848"/>
            <a:ext cx="128016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63D3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15.86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360920" y="4739336"/>
            <a:ext cx="4416552" cy="0"/>
          </a:xfrm>
          <a:prstGeom prst="line">
            <a:avLst/>
          </a:prstGeom>
          <a:ln w="7620">
            <a:solidFill>
              <a:srgbClr val="D9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397496" y="4885640"/>
            <a:ext cx="8686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9565A6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2022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67928" y="4885640"/>
            <a:ext cx="128016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63D3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404.84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4885640"/>
            <a:ext cx="128016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63D3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14.08</a:t>
            </a:r>
          </a:p>
        </p:txBody>
      </p:sp>
      <p:sp>
        <p:nvSpPr>
          <p:cNvPr id="3" name="右大括号 2">
            <a:extLst>
              <a:ext uri="{FF2B5EF4-FFF2-40B4-BE49-F238E27FC236}">
                <a16:creationId xmlns:a16="http://schemas.microsoft.com/office/drawing/2014/main" id="{BA4CEE13-A8BD-0BA7-9D94-BD4B84043405}"/>
              </a:ext>
            </a:extLst>
          </p:cNvPr>
          <p:cNvSpPr/>
          <p:nvPr/>
        </p:nvSpPr>
        <p:spPr>
          <a:xfrm>
            <a:off x="2198218" y="3485238"/>
            <a:ext cx="224942" cy="695858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1F04CE4-41B2-9103-2E34-C588DCC48824}"/>
              </a:ext>
            </a:extLst>
          </p:cNvPr>
          <p:cNvSpPr txBox="1"/>
          <p:nvPr/>
        </p:nvSpPr>
        <p:spPr>
          <a:xfrm>
            <a:off x="2516430" y="3585626"/>
            <a:ext cx="246522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500" b="1" dirty="0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</a:rPr>
              <a:t>——NSGA</a:t>
            </a:r>
            <a:r>
              <a:rPr lang="zh-CN" altLang="en-US" sz="2500" b="1" dirty="0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</a:rPr>
              <a:t>优化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93192"/>
            <a:ext cx="112014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400" b="1" dirty="0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研究流程</a:t>
            </a:r>
            <a:endParaRPr sz="3400" b="1" dirty="0">
              <a:solidFill>
                <a:srgbClr val="163D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18520" y="6547104"/>
            <a:ext cx="65836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8" y="1419149"/>
            <a:ext cx="3575304" cy="24323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20317"/>
            <a:ext cx="914400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7B74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68957"/>
            <a:ext cx="3182112" cy="4846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两阶段MCMC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54173"/>
            <a:ext cx="3182112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先定冠层与耗水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再定生物量与产量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419149"/>
            <a:ext cx="3575304" cy="24505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620317"/>
            <a:ext cx="914400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7B74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68957"/>
            <a:ext cx="3182112" cy="4846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Sobol敏感性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754173"/>
            <a:ext cx="3182112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识别主导参数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比较年度稳定性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0728" y="1419149"/>
            <a:ext cx="3575304" cy="24323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620317"/>
            <a:ext cx="914400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7B74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68957"/>
            <a:ext cx="3182112" cy="4846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五期遗传优化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754173"/>
            <a:ext cx="3182112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NSGA-III / NSGA-II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联合调整日期与水量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27525"/>
            <a:ext cx="146304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100" b="1" dirty="0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玉米</a:t>
            </a:r>
            <a:r>
              <a:rPr sz="2100" b="1" dirty="0" err="1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生育期</a:t>
            </a:r>
            <a:endParaRPr sz="2100" b="1" dirty="0">
              <a:solidFill>
                <a:srgbClr val="163D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984248" y="4345229"/>
            <a:ext cx="1792224" cy="539496"/>
          </a:xfrm>
          <a:prstGeom prst="roundRect">
            <a:avLst>
              <a:gd name="adj" fmla="val 12000"/>
            </a:avLst>
          </a:prstGeom>
          <a:solidFill>
            <a:srgbClr val="E7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020824" y="4436669"/>
            <a:ext cx="1719072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7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苗期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22776" y="4345229"/>
            <a:ext cx="1792224" cy="539496"/>
          </a:xfrm>
          <a:prstGeom prst="roundRect">
            <a:avLst>
              <a:gd name="adj" fmla="val 12000"/>
            </a:avLst>
          </a:prstGeom>
          <a:solidFill>
            <a:srgbClr val="E7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59352" y="4436669"/>
            <a:ext cx="1719072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7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拔节期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61304" y="4345229"/>
            <a:ext cx="1792224" cy="539496"/>
          </a:xfrm>
          <a:prstGeom prst="roundRect">
            <a:avLst>
              <a:gd name="adj" fmla="val 12000"/>
            </a:avLst>
          </a:prstGeom>
          <a:solidFill>
            <a:srgbClr val="E7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897880" y="4436669"/>
            <a:ext cx="1719072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7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抽穗期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99832" y="4345229"/>
            <a:ext cx="1792224" cy="539496"/>
          </a:xfrm>
          <a:prstGeom prst="roundRect">
            <a:avLst>
              <a:gd name="adj" fmla="val 12000"/>
            </a:avLst>
          </a:prstGeom>
          <a:solidFill>
            <a:srgbClr val="E7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36408" y="4436669"/>
            <a:ext cx="1719072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7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灌浆期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38360" y="4345229"/>
            <a:ext cx="1792224" cy="539496"/>
          </a:xfrm>
          <a:prstGeom prst="roundRect">
            <a:avLst>
              <a:gd name="adj" fmla="val 12000"/>
            </a:avLst>
          </a:prstGeom>
          <a:solidFill>
            <a:srgbClr val="E7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74936" y="4436669"/>
            <a:ext cx="1719072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7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成熟期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2064" y="5424220"/>
            <a:ext cx="11155680" cy="961949"/>
          </a:xfrm>
          <a:prstGeom prst="roundRect">
            <a:avLst>
              <a:gd name="adj" fmla="val 12000"/>
            </a:avLst>
          </a:prstGeom>
          <a:solidFill>
            <a:srgbClr val="E7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2376" y="5533949"/>
            <a:ext cx="10744200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0C7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核心思路：在</a:t>
            </a:r>
            <a:r>
              <a:rPr sz="2200" b="1" dirty="0" err="1">
                <a:solidFill>
                  <a:srgbClr val="0C7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五个生育期，联合优化灌水日期与水量</a:t>
            </a:r>
            <a:r>
              <a:rPr lang="zh-CN" altLang="en-US" sz="2200" b="1" dirty="0">
                <a:solidFill>
                  <a:srgbClr val="0C7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，达到最小灌溉总量和最高产量的双重优化目标</a:t>
            </a:r>
            <a:endParaRPr sz="2200" b="1" dirty="0">
              <a:solidFill>
                <a:srgbClr val="0C7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93192"/>
            <a:ext cx="112014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MCMC</a:t>
            </a:r>
            <a:r>
              <a:rPr lang="zh-CN" altLang="en-US" sz="3400" b="1" dirty="0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动态采样与校准</a:t>
            </a:r>
            <a:r>
              <a:rPr lang="en-US" altLang="zh-CN" sz="3400" b="1" dirty="0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3400" b="1" dirty="0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生长数据精度</a:t>
            </a:r>
            <a:endParaRPr sz="3400" b="1" dirty="0">
              <a:solidFill>
                <a:srgbClr val="163D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12064" y="1161288"/>
            <a:ext cx="640080" cy="36576"/>
          </a:xfrm>
          <a:prstGeom prst="rect">
            <a:avLst/>
          </a:prstGeom>
          <a:solidFill>
            <a:srgbClr val="0C7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18520" y="6547104"/>
            <a:ext cx="65836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</a:p>
        </p:txBody>
      </p:sp>
      <p:pic>
        <p:nvPicPr>
          <p:cNvPr id="5" name="Picture 4" descr="P04_Calibration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449505"/>
            <a:ext cx="8339327" cy="433389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961120" y="1600200"/>
            <a:ext cx="2651760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0" y="1709928"/>
            <a:ext cx="2322576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C7B74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0.931-0.993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2322576"/>
            <a:ext cx="2322576" cy="3749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dirty="0" err="1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冠层</a:t>
            </a:r>
            <a:r>
              <a:rPr lang="zh-CN" altLang="en-US" dirty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决定系数</a:t>
            </a:r>
            <a:endParaRPr sz="1800" b="0" dirty="0">
              <a:solidFill>
                <a:srgbClr val="647C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961120" y="2907791"/>
            <a:ext cx="2651760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0" y="3017520"/>
            <a:ext cx="2322576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C7B74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0.969-0.997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3630168"/>
            <a:ext cx="2322576" cy="3749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生物量决定系数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4215384"/>
            <a:ext cx="2651760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0" y="4325112"/>
            <a:ext cx="2322576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7B74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-4.18%至0.92%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4937760"/>
            <a:ext cx="2322576" cy="3749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年度产量相对偏差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" y="5843016"/>
            <a:ext cx="11155680" cy="658368"/>
          </a:xfrm>
          <a:prstGeom prst="roundRect">
            <a:avLst>
              <a:gd name="adj" fmla="val 12000"/>
            </a:avLst>
          </a:prstGeom>
          <a:solidFill>
            <a:srgbClr val="E7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" y="5971032"/>
            <a:ext cx="10744200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0C7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将实际观测的冠层覆盖度与生物量与模型模拟相比，拟合精度较高</a:t>
            </a:r>
            <a:endParaRPr sz="2200" b="1" dirty="0">
              <a:solidFill>
                <a:srgbClr val="0C7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93192"/>
            <a:ext cx="112014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r>
              <a:rPr lang="en-US" altLang="zh-CN" sz="3400" b="1" dirty="0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obol</a:t>
            </a:r>
            <a:r>
              <a:rPr lang="zh-CN" altLang="en-US" sz="3400" b="1" dirty="0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敏感性分析</a:t>
            </a:r>
            <a:endParaRPr sz="3400" b="1" dirty="0">
              <a:solidFill>
                <a:srgbClr val="163D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18520" y="6547104"/>
            <a:ext cx="65836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</a:p>
        </p:txBody>
      </p:sp>
      <p:pic>
        <p:nvPicPr>
          <p:cNvPr id="5" name="Picture 4" descr="P05_Sobol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635" y="1508760"/>
            <a:ext cx="9198536" cy="4206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12064" y="5843016"/>
            <a:ext cx="11155680" cy="932688"/>
          </a:xfrm>
          <a:prstGeom prst="roundRect">
            <a:avLst>
              <a:gd name="adj" fmla="val 12000"/>
            </a:avLst>
          </a:prstGeom>
          <a:solidFill>
            <a:srgbClr val="E7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376" y="5952744"/>
            <a:ext cx="10744200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0C7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对玉米生长四项参数分析可知，</a:t>
            </a:r>
            <a:r>
              <a:rPr sz="2200" b="1" dirty="0" err="1">
                <a:solidFill>
                  <a:srgbClr val="0C7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晚期水分生产率是产量的首要敏感参数</a:t>
            </a:r>
            <a:r>
              <a:rPr lang="zh-CN" altLang="en-US" sz="2200" b="1" dirty="0">
                <a:solidFill>
                  <a:srgbClr val="0C7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，且</a:t>
            </a:r>
            <a:r>
              <a:rPr lang="en-US" altLang="zh-CN" sz="2200" b="1" dirty="0">
                <a:solidFill>
                  <a:srgbClr val="0C7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200" b="1" dirty="0">
                <a:solidFill>
                  <a:srgbClr val="0C7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年参数敏感性较稳定</a:t>
            </a:r>
            <a:endParaRPr sz="2200" b="1" dirty="0">
              <a:solidFill>
                <a:srgbClr val="0C7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93192"/>
            <a:ext cx="112014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NSGA</a:t>
            </a:r>
            <a:r>
              <a:rPr lang="zh-CN" altLang="en-US" sz="3400" b="1" dirty="0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</a:t>
            </a:r>
            <a:r>
              <a:rPr lang="en-US" altLang="zh-CN" sz="3400" b="1" dirty="0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——Pareto Frontier</a:t>
            </a:r>
            <a:endParaRPr sz="3400" b="1" dirty="0">
              <a:solidFill>
                <a:srgbClr val="163D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18520" y="6547104"/>
            <a:ext cx="65836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</a:p>
        </p:txBody>
      </p:sp>
      <p:pic>
        <p:nvPicPr>
          <p:cNvPr id="5" name="Picture 4" descr="P06_Pareto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757" y="1426464"/>
            <a:ext cx="7166788" cy="43708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079992" y="1527048"/>
            <a:ext cx="2505456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观测产量的95%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34272" y="2048256"/>
            <a:ext cx="2578608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89720" y="2139696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7BA3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2019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3536" y="2121408"/>
            <a:ext cx="1417320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63D3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209.83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91088" y="2523744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47C77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mm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34272" y="2880360"/>
            <a:ext cx="2578608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89720" y="2971800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E892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2020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3536" y="2953512"/>
            <a:ext cx="1417320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63D3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306.50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91088" y="3355848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47C77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mm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34272" y="3712464"/>
            <a:ext cx="2578608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89720" y="3803904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A91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2021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3536" y="3785616"/>
            <a:ext cx="1417320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63D3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264.50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91088" y="4187952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47C77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mm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34272" y="4544568"/>
            <a:ext cx="2578608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89720" y="4636008"/>
            <a:ext cx="73152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565A6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2022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03536" y="4617720"/>
            <a:ext cx="1417320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63D3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257.47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91088" y="5020056"/>
            <a:ext cx="41148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47C77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mm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4" y="5843016"/>
            <a:ext cx="11155680" cy="658368"/>
          </a:xfrm>
          <a:prstGeom prst="roundRect">
            <a:avLst>
              <a:gd name="adj" fmla="val 12000"/>
            </a:avLst>
          </a:prstGeom>
          <a:solidFill>
            <a:srgbClr val="E7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6" y="5952744"/>
            <a:ext cx="10744200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0C7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在我们的优化模型中，达到原产量的</a:t>
            </a:r>
            <a:r>
              <a:rPr lang="en-US" altLang="zh-CN" sz="2200" b="1" dirty="0">
                <a:solidFill>
                  <a:srgbClr val="0C7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95%</a:t>
            </a:r>
            <a:r>
              <a:rPr lang="zh-CN" altLang="en-US" sz="2200" b="1" dirty="0">
                <a:solidFill>
                  <a:srgbClr val="0C7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在最佳年份只需原灌水量的一半多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93192"/>
            <a:ext cx="112014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NSGA</a:t>
            </a:r>
            <a:r>
              <a:rPr lang="zh-CN" altLang="en-US" sz="3400" b="1" dirty="0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</a:t>
            </a:r>
            <a:r>
              <a:rPr lang="en-US" altLang="zh-CN" sz="3400" b="1" dirty="0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3400" b="1" dirty="0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土壤储水分析</a:t>
            </a:r>
            <a:endParaRPr sz="3400" b="1" dirty="0">
              <a:solidFill>
                <a:srgbClr val="163D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18520" y="6547104"/>
            <a:ext cx="65836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</a:p>
        </p:txBody>
      </p:sp>
      <p:pic>
        <p:nvPicPr>
          <p:cNvPr id="5" name="Picture 4" descr="P07_Water_components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539" y="1508760"/>
            <a:ext cx="637304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80960" y="1636776"/>
            <a:ext cx="3904487" cy="394106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27848" y="1837943"/>
            <a:ext cx="3401568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2021 水量账 (mm)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7848" y="2404872"/>
            <a:ext cx="3401568" cy="5577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0C7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少灌 368.97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27848" y="3054096"/>
            <a:ext cx="3392424" cy="0"/>
          </a:xfrm>
          <a:prstGeom prst="line">
            <a:avLst/>
          </a:prstGeom>
          <a:ln w="10160">
            <a:solidFill>
              <a:srgbClr val="D9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927848" y="3310128"/>
            <a:ext cx="1572768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C7B74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356.85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64624" y="3401568"/>
            <a:ext cx="1783080" cy="3749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季末储水差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7848" y="4050791"/>
            <a:ext cx="1572768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D39A43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11.46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64624" y="4142231"/>
            <a:ext cx="1783080" cy="3749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蒸散减少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4782312"/>
            <a:ext cx="1572768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647C77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0.66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64624" y="4873752"/>
            <a:ext cx="1783080" cy="3749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其他损失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" y="5843016"/>
            <a:ext cx="11155680" cy="658368"/>
          </a:xfrm>
          <a:prstGeom prst="roundRect">
            <a:avLst>
              <a:gd name="adj" fmla="val 12000"/>
            </a:avLst>
          </a:prstGeom>
          <a:solidFill>
            <a:srgbClr val="E7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2376" y="5998464"/>
            <a:ext cx="10744200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0C7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在四年模拟分析中，</a:t>
            </a:r>
            <a:r>
              <a:rPr sz="2200" b="1" dirty="0">
                <a:solidFill>
                  <a:srgbClr val="0C7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ET降幅1.89%至5.98%；储水差贡献81.09%至96.72%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93192"/>
            <a:ext cx="112014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400" b="1" dirty="0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研究的优势：</a:t>
            </a:r>
            <a:r>
              <a:rPr sz="3400" b="1" dirty="0" err="1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过程可复现，决策可细化，机制可解释</a:t>
            </a:r>
            <a:endParaRPr sz="3400" b="1" dirty="0">
              <a:solidFill>
                <a:srgbClr val="163D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018520" y="6300470"/>
            <a:ext cx="65836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" y="1719072"/>
            <a:ext cx="3575304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2376" y="1938528"/>
            <a:ext cx="8229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C7B74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633472"/>
            <a:ext cx="315468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过程可复现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3246120"/>
            <a:ext cx="31546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四年多指标校准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重现主要生长过程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719072"/>
            <a:ext cx="3575304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17136" y="1938528"/>
            <a:ext cx="8229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C7B74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136" y="2633472"/>
            <a:ext cx="315468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决策可细化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3246120"/>
            <a:ext cx="31546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五期日期水量优化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输出逐次灌水日程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4" y="1719072"/>
            <a:ext cx="3575304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11896" y="1938528"/>
            <a:ext cx="8229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C7B74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896" y="2633472"/>
            <a:ext cx="315468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机制可解释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3246120"/>
            <a:ext cx="31546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追踪减灌水量来源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解释储水缓冲作用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4572000"/>
            <a:ext cx="137160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>
                <a:solidFill>
                  <a:srgbClr val="0C7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扩展延伸</a:t>
            </a:r>
            <a:endParaRPr sz="2200" b="1" dirty="0">
              <a:solidFill>
                <a:srgbClr val="0C7B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901952" y="4572000"/>
            <a:ext cx="9473184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dirty="0" err="1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提升采样精度，结合季末储水、单次供水能力与灌水间隔细化实施方案</a:t>
            </a:r>
            <a:r>
              <a:rPr sz="2200" b="0" dirty="0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" y="5404358"/>
            <a:ext cx="11155680" cy="603504"/>
          </a:xfrm>
          <a:prstGeom prst="roundRect">
            <a:avLst>
              <a:gd name="adj" fmla="val 12000"/>
            </a:avLst>
          </a:prstGeom>
          <a:solidFill>
            <a:srgbClr val="0C7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5459476"/>
            <a:ext cx="10789920" cy="5118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dirty="0" err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感谢各位老师，恳请批评指正</a:t>
            </a:r>
            <a:endParaRPr sz="26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93192"/>
            <a:ext cx="112014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备答1 模型设定与原链诊断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547104"/>
            <a:ext cx="65836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备答1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618488"/>
            <a:ext cx="4114800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0C7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主模型固定设置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258568"/>
            <a:ext cx="516636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覆膜覆盖率 75%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743200"/>
            <a:ext cx="516636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fMulch = 0：结构复现基线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227832"/>
            <a:ext cx="516636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Zmin = 0.30 m；Zmax = 2.30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712464"/>
            <a:ext cx="516636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模拟土壤剖面深度 2.4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197096"/>
            <a:ext cx="516636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每年阶段一4组，阶段二1组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71616" y="1581912"/>
            <a:ext cx="5532120" cy="3995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18504" y="1819656"/>
            <a:ext cx="504748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四年第一阶段时间序列诊断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41448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16368" y="2441448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最差Rhat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2872" y="2441448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最小组ESS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45936" y="2862072"/>
            <a:ext cx="4956048" cy="0"/>
          </a:xfrm>
          <a:prstGeom prst="line">
            <a:avLst/>
          </a:prstGeom>
          <a:ln w="7620">
            <a:solidFill>
              <a:srgbClr val="D9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364224" y="2953512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87BA3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2019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6096" y="2953512"/>
            <a:ext cx="1325880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63D3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1.181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953512"/>
            <a:ext cx="1435608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63D3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17.79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45936" y="3374136"/>
            <a:ext cx="4956048" cy="0"/>
          </a:xfrm>
          <a:prstGeom prst="line">
            <a:avLst/>
          </a:prstGeom>
          <a:ln w="7620">
            <a:solidFill>
              <a:srgbClr val="D9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64224" y="3465576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CE892E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2020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6096" y="3465576"/>
            <a:ext cx="1325880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63D3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1.174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465576"/>
            <a:ext cx="1435608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63D3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19.18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345936" y="3886200"/>
            <a:ext cx="4956048" cy="0"/>
          </a:xfrm>
          <a:prstGeom prst="line">
            <a:avLst/>
          </a:prstGeom>
          <a:ln w="7620">
            <a:solidFill>
              <a:srgbClr val="D9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364224" y="3977639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A9178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2021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6096" y="3977639"/>
            <a:ext cx="1325880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63D3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1.124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3977639"/>
            <a:ext cx="1435608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63D3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24.94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345936" y="4398264"/>
            <a:ext cx="4956048" cy="0"/>
          </a:xfrm>
          <a:prstGeom prst="line">
            <a:avLst/>
          </a:prstGeom>
          <a:ln w="7620">
            <a:solidFill>
              <a:srgbClr val="D9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364224" y="4489704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9565A6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2022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6096" y="4489704"/>
            <a:ext cx="1325880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63D3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1.122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4489704"/>
            <a:ext cx="1435608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63D3B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25.34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5936" y="5084064"/>
            <a:ext cx="493776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Rhat参考值：小于1.01；ESS至少400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2064" y="5843016"/>
            <a:ext cx="11155680" cy="658368"/>
          </a:xfrm>
          <a:prstGeom prst="roundRect">
            <a:avLst>
              <a:gd name="adj" fmla="val 12000"/>
            </a:avLst>
          </a:prstGeom>
          <a:solidFill>
            <a:srgbClr val="E7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22376" y="5952744"/>
            <a:ext cx="10744200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7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过程拟合与采样精度分开评价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93192"/>
            <a:ext cx="112014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备答2 每次灌水日期与水量均已输出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547104"/>
            <a:ext cx="65836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备答2</a:t>
            </a:r>
          </a:p>
        </p:txBody>
      </p:sp>
      <p:pic>
        <p:nvPicPr>
          <p:cNvPr id="5" name="Picture 4" descr="B02_Irrigation_calendar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234" y="1399032"/>
            <a:ext cx="9491906" cy="426110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12064" y="5705856"/>
            <a:ext cx="11155680" cy="822960"/>
          </a:xfrm>
          <a:prstGeom prst="roundRect">
            <a:avLst>
              <a:gd name="adj" fmla="val 12000"/>
            </a:avLst>
          </a:prstGeom>
          <a:solidFill>
            <a:srgbClr val="E7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630" y="5756910"/>
            <a:ext cx="10744200" cy="7188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7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2021主要3次：6月15日、6月28日、7月29日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7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对应水量：92.959、85.822、85.634 mm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93192"/>
            <a:ext cx="112014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备答3 三个关键问题的回答口径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547104"/>
            <a:ext cx="65836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备答3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7" y="1508760"/>
            <a:ext cx="11091672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2376" y="1700784"/>
            <a:ext cx="68580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C7B74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7048" y="1655063"/>
            <a:ext cx="9738360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300 mm左右维持高产，是否过于理想？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2130552"/>
            <a:ext cx="973836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固定初值和天气下，土壤储水可缓冲供水。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2021年储水差贡献96.72%，后续加入储水与设备约束。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7" y="3017520"/>
            <a:ext cx="11091672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3209544"/>
            <a:ext cx="68580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C7B74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3163824"/>
            <a:ext cx="9738360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MCMC的拟合好，是否就意味着链已收敛？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3639312"/>
            <a:ext cx="973836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过程拟合、参数中心稳定性与链诊断分别报告。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原链有效样本量偏低，后续改进可辨识性与独立初始化。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7" y="4526279"/>
            <a:ext cx="11091672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" y="4718303"/>
            <a:ext cx="68580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C7B74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4672583"/>
            <a:ext cx="9738360" cy="466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为什么按五期优化，却有些期没有明显灌水？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5148071"/>
            <a:ext cx="973836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五期各设0至3次灌水，零量允许取消。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联合优化每次日期与水量，不要求每期固定灌一次。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93192"/>
            <a:ext cx="112014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主要参考文献与成果入口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1161288"/>
            <a:ext cx="640080" cy="36576"/>
          </a:xfrm>
          <a:prstGeom prst="rect">
            <a:avLst/>
          </a:prstGeom>
          <a:solidFill>
            <a:srgbClr val="0C7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18520" y="6547104"/>
            <a:ext cx="65836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备答4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53896"/>
            <a:ext cx="48463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C7B74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[1]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" y="1453896"/>
            <a:ext cx="485546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王尚今，2023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" y="1819656"/>
            <a:ext cx="4855464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不同灌溉方式下覆膜玉米田水热氮传输及作物生长的观测与模拟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硕士论文，中国农业大学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2505456"/>
            <a:ext cx="48463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C7B74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[3]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2505456"/>
            <a:ext cx="485546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Steduto et al., 2009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2871216"/>
            <a:ext cx="4855464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AquaCrop: model concepts and principles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Agronomy Journal, 101, 426-437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3557015"/>
            <a:ext cx="48463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C7B74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[4]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3557015"/>
            <a:ext cx="485546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Kelly and Foster, 2021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3922776"/>
            <a:ext cx="4855464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AquaCrop-OSPy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Agricultural Water Management, 254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4608576"/>
            <a:ext cx="48463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C7B74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[5]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4608576"/>
            <a:ext cx="485546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Foreman-Mackey et al., 2013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" y="4974336"/>
            <a:ext cx="4855464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emcee: The MCMC Hammer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PASP, 125, 306-312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1453896"/>
            <a:ext cx="48463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C7B74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[6]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8856" y="1453896"/>
            <a:ext cx="485546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Sobol, 2001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48856" y="1819656"/>
            <a:ext cx="4855464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Global sensitivity indices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Mathematics and Computers in Simulation, 55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505456"/>
            <a:ext cx="48463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C7B74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[8]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8856" y="2505456"/>
            <a:ext cx="485546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Deb et al., 2002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48856" y="2871216"/>
            <a:ext cx="4855464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NSGA-II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IEEE Transactions on Evolutionary Computation,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3557015"/>
            <a:ext cx="48463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C7B74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[9]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8856" y="3557015"/>
            <a:ext cx="485546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Deb and Jain, 2014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48856" y="3922776"/>
            <a:ext cx="4855464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NSGA-III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IEEE Transactions on Evolutionary Computation, 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216" y="4608576"/>
            <a:ext cx="48463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C7B74"/>
                </a:solidFill>
                <a:latin typeface="Arial" panose="020B0604020202020204"/>
                <a:ea typeface="微软雅黑" panose="020B0503020204020204" charset="-122"/>
                <a:cs typeface="微软雅黑" panose="020B0503020204020204" charset="-122"/>
              </a:rPr>
              <a:t>[15]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48856" y="4608576"/>
            <a:ext cx="485546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63D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Vehtari et al., 2021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8856" y="4974336"/>
            <a:ext cx="4855464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MCMC convergence diagnostics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C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Bayesian Analysis, 16, 667-718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1207" y="5852160"/>
            <a:ext cx="11082528" cy="566928"/>
          </a:xfrm>
          <a:prstGeom prst="roundRect">
            <a:avLst>
              <a:gd name="adj" fmla="val 12000"/>
            </a:avLst>
          </a:prstGeom>
          <a:solidFill>
            <a:srgbClr val="E7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5952744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C7B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完整论文与数据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393192"/>
            <a:ext cx="11201400" cy="7132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63D3B"/>
                </a:solidFill>
                <a:latin typeface="Microsoft YaHei"/>
                <a:ea typeface="Microsoft YaHei"/>
              </a:rPr>
              <a:t>MCMC动态采样与校准 马尔可夫链收敛性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" y="1161288"/>
            <a:ext cx="640080" cy="36576"/>
          </a:xfrm>
          <a:prstGeom prst="rect">
            <a:avLst/>
          </a:prstGeom>
          <a:solidFill>
            <a:srgbClr val="0C7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508760"/>
            <a:ext cx="6784848" cy="429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63D3B"/>
                </a:solidFill>
                <a:latin typeface="Microsoft YaHei"/>
                <a:ea typeface="Microsoft YaHei"/>
              </a:rPr>
              <a:t>2021年原链动态轨迹</a:t>
            </a:r>
          </a:p>
        </p:txBody>
      </p:sp>
      <p:pic>
        <p:nvPicPr>
          <p:cNvPr id="5" name="Picture 4" descr="MCMC_2021_Raw_Traces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105" y="1920240"/>
            <a:ext cx="6511068" cy="367588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99248" y="1508760"/>
            <a:ext cx="3922776" cy="4160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7848" y="1719072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63D3B"/>
                </a:solidFill>
                <a:latin typeface="Microsoft YaHei"/>
                <a:ea typeface="Microsoft YaHei"/>
              </a:rPr>
              <a:t>四年阶段一诊断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2304288"/>
            <a:ext cx="822960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47C77"/>
                </a:solidFill>
                <a:latin typeface="Microsoft YaHei"/>
                <a:ea typeface="Microsoft YaHei"/>
              </a:rPr>
              <a:t>年份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42832" y="2304288"/>
            <a:ext cx="1024128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47C77"/>
                </a:solidFill>
                <a:latin typeface="Microsoft YaHei"/>
                <a:ea typeface="Microsoft YaHei"/>
              </a:rPr>
              <a:t>Rhat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22992" y="2304288"/>
            <a:ext cx="1225296" cy="3566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47C77"/>
                </a:solidFill>
                <a:latin typeface="Microsoft YaHei"/>
                <a:ea typeface="Microsoft YaHei"/>
              </a:rPr>
              <a:t>bulk 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18704" y="2670048"/>
            <a:ext cx="3429000" cy="8229"/>
          </a:xfrm>
          <a:prstGeom prst="rect">
            <a:avLst/>
          </a:prstGeom>
          <a:solidFill>
            <a:srgbClr val="D9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36992" y="2770632"/>
            <a:ext cx="832104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87BA3"/>
                </a:solidFill>
                <a:latin typeface="Microsoft YaHei"/>
                <a:ea typeface="Microsoft YaHei"/>
              </a:rPr>
              <a:t>2019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9408" y="2770632"/>
            <a:ext cx="10515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63D3B"/>
                </a:solidFill>
                <a:latin typeface="Microsoft YaHei"/>
                <a:ea typeface="Microsoft YaHei"/>
              </a:rPr>
              <a:t>1.181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14432" y="2770632"/>
            <a:ext cx="987552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63D3B"/>
                </a:solidFill>
                <a:latin typeface="Microsoft YaHei"/>
                <a:ea typeface="Microsoft YaHei"/>
              </a:rPr>
              <a:t>17.79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18704" y="3191256"/>
            <a:ext cx="3429000" cy="8229"/>
          </a:xfrm>
          <a:prstGeom prst="rect">
            <a:avLst/>
          </a:prstGeom>
          <a:solidFill>
            <a:srgbClr val="D9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6992" y="3291839"/>
            <a:ext cx="832104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E892E"/>
                </a:solidFill>
                <a:latin typeface="Microsoft YaHei"/>
                <a:ea typeface="Microsoft YaHei"/>
              </a:rPr>
              <a:t>2020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9408" y="3291839"/>
            <a:ext cx="10515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63D3B"/>
                </a:solidFill>
                <a:latin typeface="Microsoft YaHei"/>
                <a:ea typeface="Microsoft YaHei"/>
              </a:rPr>
              <a:t>1.174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14432" y="3291839"/>
            <a:ext cx="987552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63D3B"/>
                </a:solidFill>
                <a:latin typeface="Microsoft YaHei"/>
                <a:ea typeface="Microsoft YaHei"/>
              </a:rPr>
              <a:t>19.18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18704" y="3712463"/>
            <a:ext cx="3429000" cy="8229"/>
          </a:xfrm>
          <a:prstGeom prst="rect">
            <a:avLst/>
          </a:prstGeom>
          <a:solidFill>
            <a:srgbClr val="D9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36992" y="3813048"/>
            <a:ext cx="832104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A9178"/>
                </a:solidFill>
                <a:latin typeface="Microsoft YaHei"/>
                <a:ea typeface="Microsoft YaHei"/>
              </a:rPr>
              <a:t>2021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3813048"/>
            <a:ext cx="10515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63D3B"/>
                </a:solidFill>
                <a:latin typeface="Microsoft YaHei"/>
                <a:ea typeface="Microsoft YaHei"/>
              </a:rPr>
              <a:t>1.124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14432" y="3813048"/>
            <a:ext cx="987552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63D3B"/>
                </a:solidFill>
                <a:latin typeface="Microsoft YaHei"/>
                <a:ea typeface="Microsoft YaHei"/>
              </a:rPr>
              <a:t>24.94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18704" y="4233672"/>
            <a:ext cx="3429000" cy="8229"/>
          </a:xfrm>
          <a:prstGeom prst="rect">
            <a:avLst/>
          </a:prstGeom>
          <a:solidFill>
            <a:srgbClr val="D9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36992" y="4334256"/>
            <a:ext cx="832104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9565A6"/>
                </a:solidFill>
                <a:latin typeface="Microsoft YaHei"/>
                <a:ea typeface="Microsoft YaHei"/>
              </a:rPr>
              <a:t>2022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9408" y="4334256"/>
            <a:ext cx="1051560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63D3B"/>
                </a:solidFill>
                <a:latin typeface="Microsoft YaHei"/>
                <a:ea typeface="Microsoft YaHei"/>
              </a:rPr>
              <a:t>1.122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14432" y="4334256"/>
            <a:ext cx="987552" cy="411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63D3B"/>
                </a:solidFill>
                <a:latin typeface="Microsoft YaHei"/>
                <a:ea typeface="Microsoft YaHei"/>
              </a:rPr>
              <a:t>25.34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36992" y="4992624"/>
            <a:ext cx="3456432" cy="594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47C77"/>
                </a:solidFill>
                <a:latin typeface="Microsoft YaHei"/>
                <a:ea typeface="Microsoft YaHei"/>
              </a:rPr>
              <a:t>参考：Rhat小于1.01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647C77"/>
                </a:solidFill>
                <a:latin typeface="Microsoft YaHei"/>
                <a:ea typeface="Microsoft YaHei"/>
              </a:rPr>
              <a:t>bulk ESS至少400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2064" y="5815584"/>
            <a:ext cx="11155680" cy="658368"/>
          </a:xfrm>
          <a:prstGeom prst="roundRect">
            <a:avLst>
              <a:gd name="adj" fmla="val 10000"/>
            </a:avLst>
          </a:prstGeom>
          <a:solidFill>
            <a:srgbClr val="E7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934456"/>
            <a:ext cx="10716768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7B74"/>
                </a:solidFill>
                <a:latin typeface="Microsoft YaHei"/>
                <a:ea typeface="Microsoft YaHei"/>
              </a:rPr>
              <a:t>参数中心较稳定，严格收敛判据尚待满足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547104"/>
            <a:ext cx="658368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C77"/>
                </a:solidFill>
                <a:latin typeface="Microsoft YaHei"/>
                <a:ea typeface="Microsoft YaHe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1537</Words>
  <Application>Microsoft Office PowerPoint</Application>
  <PresentationFormat>宽屏</PresentationFormat>
  <Paragraphs>304</Paragraphs>
  <Slides>12</Slides>
  <Notes>12</Notes>
  <HiddenSlides>4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膜下滴灌玉米灌溉制度优化｜URP五分钟答辩</dc:title>
  <dc:subject>8 main slides, 300 seconds; 4 backup slides; verified five-stage results</dc:subject>
  <dc:creator>吴雨臻；李承昊；段璞</dc:creator>
  <dc:description>generated using python-pptx</dc:description>
  <cp:lastModifiedBy>Phoenix Lee</cp:lastModifiedBy>
  <cp:revision>3</cp:revision>
  <dcterms:created xsi:type="dcterms:W3CDTF">2013-01-27T09:14:00Z</dcterms:created>
  <dcterms:modified xsi:type="dcterms:W3CDTF">2026-10-25T14:02:24Z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976B286D593B42A69D5D3C629B8054E3_13</vt:lpwstr>
  </property>
  <property fmtid="{D5CDD505-2E9C-101B-9397-08002B2CF9AE}" pid="3" name="KSOProductBuildVer">
    <vt:lpwstr>2052-12.1.0.28505</vt:lpwstr>
  </property>
</Properties>
</file>