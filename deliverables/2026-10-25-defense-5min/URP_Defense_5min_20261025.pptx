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主讲第1页｜膜下滴灌玉米灌溉制度优化</a:t>
            </a:r>
          </a:p>
          <a:p>
            <a:r>
              <a:t>时间：00:00—00:15（15秒）</a:t>
            </a:r>
          </a:p>
          <a:p/>
          <a:p>
            <a:r>
              <a:t>【口播稿】</a:t>
            </a:r>
          </a:p>
          <a:p>
            <a:r>
              <a:t>各位老师好，我们汇报的主题是膜下滴灌玉米灌溉制度优化。研究围绕四年资料，连接参数校准、敏感性分析与五期灌水优化，并用水量核算解释结果。</a:t>
            </a:r>
          </a:p>
          <a:p/>
          <a:p>
            <a:r>
              <a:t>【数据与切页提示】</a:t>
            </a:r>
          </a:p>
          <a:p>
            <a:r>
              <a:t>本次汇报聚焦DI玉米，正式项目名称保留原立项名称。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主讲第2页｜把灌水、生长与储水放在一起评价</a:t>
            </a:r>
          </a:p>
          <a:p>
            <a:r>
              <a:t>时间：00:15—00:50（35秒）</a:t>
            </a:r>
          </a:p>
          <a:p/>
          <a:p>
            <a:r>
              <a:t>【口播稿】</a:t>
            </a:r>
          </a:p>
          <a:p>
            <a:r>
              <a:t>研究采用甘肃武威2019至2022年膜下滴灌玉米既有观测资料。四年灌水量约为405至633毫米，产量约为14.08至17.29吨每公顷。我们整理了48个冠层覆盖度配对和37个生物量配对，并接入气象、土壤及灌水日程。研究主要回答三个问题：需要灌多少水，在哪些生育期灌，以及较低灌水量下支撑产量的水来自哪里。</a:t>
            </a:r>
          </a:p>
          <a:p/>
          <a:p>
            <a:r>
              <a:t>【数据与切页提示】</a:t>
            </a:r>
          </a:p>
          <a:p>
            <a:r>
              <a:t>2019/20/21/22原季节灌水量445.27/559.76/633.47/404.84 mm。请直接概括范围，无需逐行朗读。完整数据来源仅在参考文献中按编号说明。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主讲第3页｜两阶段校准，连接敏感性与五期决策</a:t>
            </a:r>
          </a:p>
          <a:p>
            <a:r>
              <a:t>时间：00:50—01:30（40秒）</a:t>
            </a:r>
          </a:p>
          <a:p/>
          <a:p>
            <a:r>
              <a:t>【口播稿】</a:t>
            </a:r>
          </a:p>
          <a:p>
            <a:r>
              <a:t>技术路线分三步。首先，两阶段MCMC先利用冠层和耗水指标确定五个参数，再利用生物量和产量确定三个生产参数。其次，Sobol在共同独立参数范围内比较四年敏感性。最后，使用两种遗传算法求解产量与实际灌水量的权衡。五个生育期各设最多三次可选灌水，零水量取消，同时优化十五个水量和十五个日期。主分析保持原模型物理设定，结构补充试验单列。</a:t>
            </a:r>
          </a:p>
          <a:p/>
          <a:p>
            <a:r>
              <a:t>【数据与切页提示】</a:t>
            </a:r>
          </a:p>
          <a:p>
            <a:r>
              <a:t>主模型是四年原始结构，fMulch=0为关闭额外蒸发抑制的复现基线。2021年1 m根深与fMulch条件拟合不是此页主模型。正式和全范围优化共457,596次目标查询。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主讲第4页｜多指标拟合再现四年主要生长过程</a:t>
            </a:r>
          </a:p>
          <a:p>
            <a:r>
              <a:t>时间：01:30—02:15（45秒）</a:t>
            </a:r>
          </a:p>
          <a:p/>
          <a:p>
            <a:r>
              <a:t>【口播稿】</a:t>
            </a:r>
          </a:p>
          <a:p>
            <a:r>
              <a:t>左图展示冠层覆盖度，右图展示地上生物量，颜色区分四个年份。大部分配对点接近一比一线。四年冠层拟合决定系数为0.931至0.993，生物量为0.969至0.997；年度产量相对偏差为负4.18%至正0.92%。这些结果描述了参数中心对生长和产量的拟合效果。我们同时单独检查了原链，发现有效样本量仍需提高，因此将过程拟合与分布采样精度分别报告。</a:t>
            </a:r>
          </a:p>
          <a:p/>
          <a:p>
            <a:r>
              <a:t>【数据与切页提示】</a:t>
            </a:r>
          </a:p>
          <a:p>
            <a:r>
              <a:t>图中虚线为1:1线。R²cal区间由年度源表计算，非图中汇总散点的OLS R²。主讲说明“有效样本量仍需提高”，详细Rhat与ESS在备答1。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主讲第5页｜产量主导参数的年度排序保持一致</a:t>
            </a:r>
          </a:p>
          <a:p>
            <a:r>
              <a:t>时间：02:15—02:50（35秒）</a:t>
            </a:r>
          </a:p>
          <a:p/>
          <a:p>
            <a:r>
              <a:t>【口播稿】</a:t>
            </a:r>
          </a:p>
          <a:p>
            <a:r>
              <a:t>敏感性分析表明，四年年平均结果中，晚期水分生产率、收获指数、早期水分生产率和基础作物系数的排序保持一致，但贡献幅度存在年际变化。晚期水分生产率的总效应指数四年均值为0.396，位居首位。这里的平均是共同独立输入范围下的四年等权描述，保留逐年结果共同解释。</a:t>
            </a:r>
          </a:p>
          <a:p/>
          <a:p>
            <a:r>
              <a:t>【数据与切页提示】</a:t>
            </a:r>
          </a:p>
          <a:p>
            <a:r>
              <a:t>ST并非百分比份额，不要求求和为1。图左为逐年三个随机化序列的平均，图右再对四年等权平均；这是公共独立范围敏感性，不是相关后验敏感性。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主讲第6页｜五期优化形成四年灌水—产量候选前沿</a:t>
            </a:r>
          </a:p>
          <a:p>
            <a:r>
              <a:t>时间：02:50—03:40（50秒）</a:t>
            </a:r>
          </a:p>
          <a:p/>
          <a:p>
            <a:r>
              <a:t>【口播稿】</a:t>
            </a:r>
          </a:p>
          <a:p>
            <a:r>
              <a:t>这页给出四年的产量与灌水权衡。蓝色虚线连接全范围搜索得到的非支配解，星号是原DI模型基准，橙圈是正式搜索按95%观测产量门槛选出的候选。四年候选灌水量分别约为210、306、264和257毫米。每个候选都对应完整的逐次日期和水量。两种遗传算法获得相近的最低灌水区间。面对看起来很大的减灌幅度，我们进一步追踪水量来源，而不是只用这张图直接给出田间定额。</a:t>
            </a:r>
          </a:p>
          <a:p/>
          <a:p>
            <a:r>
              <a:t>【数据与切页提示】</a:t>
            </a:r>
          </a:p>
          <a:p>
            <a:r>
              <a:t>95%是确定产量水平门槛，不是95%保证概率。蓝线展示补充全范围搜索，橙圈来自正式搜索，二者来源分别说明。棕色点线为95%观测产量参考。所有图显示未经任意平滑的原计算解连线。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主讲第7页｜储水核算解释低灌水高产平台</a:t>
            </a:r>
          </a:p>
          <a:p>
            <a:r>
              <a:t>时间：03:40—04:35（55秒）</a:t>
            </a:r>
          </a:p>
          <a:p/>
          <a:p>
            <a:r>
              <a:t>【口播稿】</a:t>
            </a:r>
          </a:p>
          <a:p>
            <a:r>
              <a:t>水量核算是解释结果的关键。左图把减灌量拆分为蒸散变化、季末储水差和其他损失差。四年蒸散仅下降1.89%至5.98%，季末储水差则解释了81.09%至96.72%的减灌量。以2021年为例，少灌368.97毫米，其中356.85毫米对应季末储水差，11.46毫米对应蒸散减少，其他差额约0.66毫米。因此，较低灌水候选主要利用了基准日程增储与初始土壤水的缓冲。后续田间方案应配套季末储水及设备供水条件。</a:t>
            </a:r>
          </a:p>
          <a:p/>
          <a:p>
            <a:r>
              <a:t>【数据与切页提示】</a:t>
            </a:r>
          </a:p>
          <a:p>
            <a:r>
              <a:t>2021年：原633.47、候选264.499975 mm，差368.970025 mm。储水差356.853567、ET差11.459783、其他差0.656675 mm。正文约数0.66+11.46+356.85=368.97。原初始535.70 mm，原日程终值705.67，候选348.82 mm。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主讲第8页｜过程可复现，决策可细化，机制可解释</a:t>
            </a:r>
          </a:p>
          <a:p>
            <a:r>
              <a:t>时间：04:35—05:00（25秒）</a:t>
            </a:r>
          </a:p>
          <a:p/>
          <a:p>
            <a:r>
              <a:t>【口播稿】</a:t>
            </a:r>
          </a:p>
          <a:p>
            <a:r>
              <a:t>我们完成了四年多指标校准、敏感性分析和五期逐次灌水优化，并通过储水核算明确减灌量的组成。下一步重点提升采样精度，结合季末储水、单次供水能力和灌水间隔细化实施方案。感谢各位老师，请批评指正。</a:t>
            </a:r>
          </a:p>
          <a:p/>
          <a:p>
            <a:r>
              <a:t>【数据与切页提示】</a:t>
            </a:r>
          </a:p>
          <a:p>
            <a:r>
              <a:t>按计划5分钟结束。后面4页为备答，不主动展开；根据老师提问跳转。</a:t>
            </a:r>
          </a:p>
          <a:p>
            <a:r>
              <a:t>主讲第8页结束即为5分钟。后续为备答页，按提问选择。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四年阶段一均未达到原严格采样参考标准；不能以多条walker展平后充当独立长链。阶段二每年仅一个独立ensemble，链间一致性无法按同一方式评价。主结果使用原保留均值作确定性模拟。2021年根深1 m与不同fMulch条件重校准是独立补充试验，不替代本页四年主设定。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图件显示全部正水量事件，包括微量正数。四年全部正事件数12、13、9、8；≥0.1 mm为8、8、3、6。每期最多3个可选槽位，零量取消、同日合并。2021年另有6个&lt;0.1 mm微量事件；主方案计算未擅自删除，实施时应先加入最低可执行水量等设备条件后再评价。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先给出问题的直接结论，再引用对应数据。不要将减灌量直接解释成ET节约，不将95%产量门槛说成概率保证，不把公共独立范围Sobol说成相关后验敏感性，不把1 m覆膜试验混成四年原模型。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【备答，不计入5分钟】</a:t>
            </a:r>
          </a:p>
          <a:p>
            <a:r>
              <a:t>主要数据来源引用[1]，本项目完成资料整理、数值模型校准和分析。原资料作者的完整信息保留在本参考文献页；正文及主讲页以编号引用。可点击成果入口查找已核验的论文、逐查询数据和代码。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yuzhenwu920-afk/URP/tree/delivery/urp-review-20261015/deliverables/2026-10-23-unified-update" TargetMode="Externa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2F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70064" y="0"/>
            <a:ext cx="4821935" cy="6858000"/>
          </a:xfrm>
          <a:prstGeom prst="rect">
            <a:avLst/>
          </a:prstGeom>
          <a:solidFill>
            <a:srgbClr val="193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3504" y="438912"/>
            <a:ext cx="640080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D4C8"/>
                </a:solidFill>
                <a:latin typeface="DejaVu Sans"/>
              </a:rPr>
              <a:t>URP 2026  /  RESEARCH DEFENSE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61872"/>
            <a:ext cx="603504" cy="59436"/>
          </a:xfrm>
          <a:prstGeom prst="rect">
            <a:avLst/>
          </a:prstGeom>
          <a:solidFill>
            <a:srgbClr val="D3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572768"/>
            <a:ext cx="6400800" cy="1783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Noto Sans CJK SC"/>
              </a:rPr>
              <a:t>膜下滴灌玉米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Noto Sans CJK SC"/>
              </a:rPr>
              <a:t>灌溉制度优化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" y="3657600"/>
            <a:ext cx="64008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D6E7DE"/>
                </a:solidFill>
                <a:latin typeface="Noto Sans CJK SC"/>
              </a:rPr>
              <a:t>四年两阶段MCMC · Sobol · 五生育期逐次灌水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148072"/>
            <a:ext cx="6309360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FFFFFF"/>
                </a:solidFill>
                <a:latin typeface="Noto Sans CJK SC"/>
              </a:rPr>
              <a:t>吴雨臻  李承昊  段璞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596128"/>
            <a:ext cx="63093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B9D4C8"/>
                </a:solidFill>
                <a:latin typeface="Noto Sans CJK SC"/>
              </a:rPr>
              <a:t>指导教师：廖人宽  ·  中国农业大学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135624"/>
            <a:ext cx="64008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9FBCB1"/>
                </a:solidFill>
                <a:latin typeface="Noto Sans CJK SC"/>
              </a:rPr>
              <a:t>项目：基于马尔科夫链的不同灌溉方式灌溉制度优化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662672" y="4617720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62672" y="4864608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62672" y="5111496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62672" y="5358383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662672" y="5605272"/>
            <a:ext cx="4151376" cy="0"/>
          </a:xfrm>
          <a:prstGeom prst="line">
            <a:avLst/>
          </a:prstGeom>
          <a:ln w="8890">
            <a:solidFill>
              <a:srgbClr val="3159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8183879" y="996696"/>
            <a:ext cx="2834640" cy="2834640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494776" y="1298448"/>
            <a:ext cx="2267712" cy="2267712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05672" y="1600200"/>
            <a:ext cx="1700784" cy="1700784"/>
          </a:xfrm>
          <a:prstGeom prst="ellipse">
            <a:avLst/>
          </a:prstGeom>
          <a:noFill/>
          <a:ln w="12700">
            <a:solidFill>
              <a:srgbClr val="315C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67827" y="4165091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7845552" y="4425696"/>
            <a:ext cx="0" cy="219456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607808" y="4517136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0E3D6"/>
                </a:solidFill>
                <a:latin typeface="Noto Sans CJK SC"/>
              </a:rPr>
              <a:t>苗期</a:t>
            </a:r>
          </a:p>
        </p:txBody>
      </p:sp>
      <p:cxnSp>
        <p:nvCxnSpPr>
          <p:cNvPr id="21" name="Connector 20"/>
          <p:cNvCxnSpPr/>
          <p:nvPr/>
        </p:nvCxnSpPr>
        <p:spPr>
          <a:xfrm flipV="1">
            <a:off x="7845552" y="3758184"/>
            <a:ext cx="694944" cy="484632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462772" y="3680460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8540496" y="3941064"/>
            <a:ext cx="0" cy="704088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302752" y="4032504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0E3D6"/>
                </a:solidFill>
                <a:latin typeface="Noto Sans CJK SC"/>
              </a:rPr>
              <a:t>拔节期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8540496" y="3337560"/>
            <a:ext cx="667512" cy="420624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9130284" y="3259836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" name="Connector 26"/>
          <p:cNvCxnSpPr/>
          <p:nvPr/>
        </p:nvCxnSpPr>
        <p:spPr>
          <a:xfrm>
            <a:off x="9208008" y="3520440"/>
            <a:ext cx="0" cy="1124712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970264" y="361187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0E3D6"/>
                </a:solidFill>
                <a:latin typeface="Noto Sans CJK SC"/>
              </a:rPr>
              <a:t>抽穗期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9208008" y="2880360"/>
            <a:ext cx="694944" cy="457200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825228" y="2802636"/>
            <a:ext cx="155448" cy="155448"/>
          </a:xfrm>
          <a:prstGeom prst="ellipse">
            <a:avLst/>
          </a:prstGeom>
          <a:solidFill>
            <a:srgbClr val="B9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1" name="Connector 30"/>
          <p:cNvCxnSpPr/>
          <p:nvPr/>
        </p:nvCxnSpPr>
        <p:spPr>
          <a:xfrm>
            <a:off x="9902952" y="3063240"/>
            <a:ext cx="0" cy="1581912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9665208" y="3154679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0E3D6"/>
                </a:solidFill>
                <a:latin typeface="Noto Sans CJK SC"/>
              </a:rPr>
              <a:t>灌浆期</a:t>
            </a:r>
          </a:p>
        </p:txBody>
      </p:sp>
      <p:cxnSp>
        <p:nvCxnSpPr>
          <p:cNvPr id="33" name="Connector 32"/>
          <p:cNvCxnSpPr/>
          <p:nvPr/>
        </p:nvCxnSpPr>
        <p:spPr>
          <a:xfrm flipV="1">
            <a:off x="9902952" y="2532888"/>
            <a:ext cx="740664" cy="347472"/>
          </a:xfrm>
          <a:prstGeom prst="line">
            <a:avLst/>
          </a:prstGeom>
          <a:ln w="25400">
            <a:solidFill>
              <a:srgbClr val="80BA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10565892" y="2455164"/>
            <a:ext cx="155448" cy="155448"/>
          </a:xfrm>
          <a:prstGeom prst="ellipse">
            <a:avLst/>
          </a:prstGeom>
          <a:solidFill>
            <a:srgbClr val="D39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0643616" y="2715768"/>
            <a:ext cx="0" cy="1929384"/>
          </a:xfrm>
          <a:prstGeom prst="line">
            <a:avLst/>
          </a:prstGeom>
          <a:ln w="10160">
            <a:solidFill>
              <a:srgbClr val="4D87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405872" y="2807208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0E3D6"/>
                </a:solidFill>
                <a:latin typeface="Noto Sans CJK SC"/>
              </a:rPr>
              <a:t>成熟期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818120" y="5413248"/>
            <a:ext cx="33832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FFFFFF"/>
                </a:solidFill>
                <a:latin typeface="DejaVu Sans"/>
              </a:rPr>
              <a:t>5 STAGES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18120" y="5934456"/>
            <a:ext cx="3749039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B9D4C8"/>
                </a:solidFill>
                <a:latin typeface="Noto Sans CJK SC"/>
              </a:rPr>
              <a:t>从参数校准到可解释的灌溉决策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AEC8BF"/>
                </a:solidFill>
                <a:latin typeface="Noto Sans CJK SC"/>
              </a:rPr>
              <a:t>2026.10.25  ·  项目编号 X2026100190937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AEC8BF"/>
                </a:solidFill>
                <a:latin typeface="DejaVu Sans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RESEARCH QUESTION  /  STUDY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把灌水、生长与储水放在一起评价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田间资料[1]；CC由LAI换算，生物量由已发表图件数字化；气象与辅助遥感资料分别归档。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02 /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554480"/>
            <a:ext cx="5577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Noto Sans CJK SC"/>
              </a:rPr>
              <a:t>甘肃武威 · 膜下滴灌玉米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2194560"/>
            <a:ext cx="5669280" cy="23317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灌多少水？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何时灌水？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水从哪里来？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4754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C7B74"/>
                </a:solidFill>
                <a:latin typeface="DejaVu Sans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4223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Noto Sans CJK SC"/>
              </a:rPr>
              <a:t>年度资料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4754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C7B74"/>
                </a:solidFill>
                <a:latin typeface="DejaVu Sans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3160" y="54223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Noto Sans CJK SC"/>
              </a:rPr>
              <a:t>CC配对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4754880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0C7B74"/>
                </a:solidFill>
                <a:latin typeface="DejaVu Sans"/>
              </a:rPr>
              <a:t>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5422392"/>
            <a:ext cx="1600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Noto Sans CJK SC"/>
              </a:rPr>
              <a:t>生物量配对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517904"/>
            <a:ext cx="4965192" cy="455371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76288" y="1783080"/>
            <a:ext cx="44348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3D3B"/>
                </a:solidFill>
                <a:latin typeface="Noto Sans CJK SC"/>
              </a:rPr>
              <a:t>四年田间观测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12864" y="242316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Noto Sans CJK SC"/>
              </a:rPr>
              <a:t>年份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6992" y="2423160"/>
            <a:ext cx="146304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Noto Sans CJK SC"/>
              </a:rPr>
              <a:t>灌水量 / mm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46920" y="2423160"/>
            <a:ext cx="164592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647C77"/>
                </a:solidFill>
                <a:latin typeface="Noto Sans CJK SC"/>
              </a:rPr>
              <a:t>产量 / t·ha⁻¹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85432" y="2779776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922008" y="2926080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87BA3"/>
                </a:solidFill>
                <a:latin typeface="DejaVu Sans"/>
              </a:rPr>
              <a:t>2019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92440" y="2926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445.27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57232" y="29260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16.55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885432" y="3401568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22008" y="3547872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CE892E"/>
                </a:solidFill>
                <a:latin typeface="DejaVu Sans"/>
              </a:rPr>
              <a:t>2020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92440" y="35478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559.76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57232" y="35478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17.29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85432" y="4023360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922008" y="4169664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A9178"/>
                </a:solidFill>
                <a:latin typeface="DejaVu Sans"/>
              </a:rPr>
              <a:t>2021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416966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633.47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57232" y="416966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15.86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85432" y="4645152"/>
            <a:ext cx="4416552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22008" y="4791456"/>
            <a:ext cx="8686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9565A6"/>
                </a:solidFill>
                <a:latin typeface="DejaVu Sans"/>
              </a:rPr>
              <a:t>2022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479145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404.84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479145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DejaVu Sans"/>
              </a:rPr>
              <a:t>14.08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03720" y="5614416"/>
            <a:ext cx="44348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>
                <a:solidFill>
                  <a:srgbClr val="647C77"/>
                </a:solidFill>
                <a:latin typeface="Noto Sans CJK SC"/>
              </a:rPr>
              <a:t>既有观测资料[1]  ·  产量按13%含水率表示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METHODS  /  FROM OBSERVATION TO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两阶段校准，连接敏感性与五期决策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方法：[3–6,8,9]；主模型固定原参数结构、年度天气与初始含水量，补充结构试验单列。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03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581912"/>
            <a:ext cx="3575304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7830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331720"/>
            <a:ext cx="318211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Noto Sans CJK SC"/>
              </a:rPr>
              <a:t>两阶段MCMC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916936"/>
            <a:ext cx="3182112" cy="722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3D3B"/>
                </a:solidFill>
                <a:latin typeface="Noto Sans CJK SC"/>
              </a:rPr>
              <a:t>先定冠层与耗水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3D3B"/>
                </a:solidFill>
                <a:latin typeface="Noto Sans CJK SC"/>
              </a:rPr>
              <a:t>再定生物量与产量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" y="3694176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47C77"/>
                </a:solidFill>
                <a:latin typeface="Noto Sans CJK SC"/>
              </a:rPr>
              <a:t>阶段一 5参数｜阶段二 3参数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47C77"/>
                </a:solidFill>
                <a:latin typeface="Noto Sans CJK SC"/>
              </a:rPr>
              <a:t>每组32 walkers × 2000步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96512" y="2633472"/>
            <a:ext cx="210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C7B74"/>
                </a:solidFill>
                <a:latin typeface="Noto Sans CJK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06824" y="1581912"/>
            <a:ext cx="3575304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17136" y="17830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DejaVu San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31720"/>
            <a:ext cx="318211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Noto Sans CJK SC"/>
              </a:rPr>
              <a:t>Sobol敏感性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17136" y="2916936"/>
            <a:ext cx="3182112" cy="722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3D3B"/>
                </a:solidFill>
                <a:latin typeface="Noto Sans CJK SC"/>
              </a:rPr>
              <a:t>识别主导参数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3D3B"/>
                </a:solidFill>
                <a:latin typeface="Noto Sans CJK SC"/>
              </a:rPr>
              <a:t>比较年度稳定性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694176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47C77"/>
                </a:solidFill>
                <a:latin typeface="Noto Sans CJK SC"/>
              </a:rPr>
              <a:t>8参数 × 6输出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47C77"/>
                </a:solidFill>
                <a:latin typeface="Noto Sans CJK SC"/>
              </a:rPr>
              <a:t>N=512 × 3个随机化序列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91272" y="2633472"/>
            <a:ext cx="210312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0C7B74"/>
                </a:solidFill>
                <a:latin typeface="Noto Sans CJK SC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81912"/>
            <a:ext cx="3575304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1896" y="1783080"/>
            <a:ext cx="91440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DejaVu San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331720"/>
            <a:ext cx="3182112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63D3B"/>
                </a:solidFill>
                <a:latin typeface="Noto Sans CJK SC"/>
              </a:rPr>
              <a:t>五期遗传优化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2916936"/>
            <a:ext cx="3182112" cy="7223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3D3B"/>
                </a:solidFill>
                <a:latin typeface="Noto Sans CJK SC"/>
              </a:rPr>
              <a:t>NSGA-III / NSGA-II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163D3B"/>
                </a:solidFill>
                <a:latin typeface="Noto Sans CJK SC"/>
              </a:rPr>
              <a:t>联合调整日期与水量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3694176"/>
            <a:ext cx="3182112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47C77"/>
                </a:solidFill>
                <a:latin typeface="Noto Sans CJK SC"/>
              </a:rPr>
              <a:t>每期0–3次｜零量取消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>
                <a:solidFill>
                  <a:srgbClr val="647C77"/>
                </a:solidFill>
                <a:latin typeface="Noto Sans CJK SC"/>
              </a:rPr>
              <a:t>15个水量＋15个日期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54296"/>
            <a:ext cx="14630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63D3B"/>
                </a:solidFill>
                <a:latin typeface="Noto Sans CJK SC"/>
              </a:rPr>
              <a:t>五生育期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84248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20824" y="466344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7B74"/>
                </a:solidFill>
                <a:latin typeface="Noto Sans CJK SC"/>
              </a:rPr>
              <a:t>苗期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22776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959352" y="466344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7B74"/>
                </a:solidFill>
                <a:latin typeface="Noto Sans CJK SC"/>
              </a:rPr>
              <a:t>拔节期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861304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97880" y="466344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7B74"/>
                </a:solidFill>
                <a:latin typeface="Noto Sans CJK SC"/>
              </a:rPr>
              <a:t>抽穗期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99832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36408" y="466344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7B74"/>
                </a:solidFill>
                <a:latin typeface="Noto Sans CJK SC"/>
              </a:rPr>
              <a:t>灌浆期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738360" y="4572000"/>
            <a:ext cx="1792224" cy="539496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74936" y="4663440"/>
            <a:ext cx="1719072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7B74"/>
                </a:solidFill>
                <a:latin typeface="Noto Sans CJK SC"/>
              </a:rPr>
              <a:t>成熟期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" y="5650992"/>
            <a:ext cx="11155680" cy="512064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5751576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Noto Sans CJK SC"/>
              </a:rPr>
              <a:t>固定主设定：覆膜75%  ·  fMulch=0结构基线  ·  最大根深2.30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RESULT 01  /  MCMC 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多指标拟合再现四年主要生长过程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校准配对：48个CC、37个生物量；R²cal=1−SSE/SST；原链采样诊断另列备答1。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04 / 08</a:t>
            </a:r>
          </a:p>
        </p:txBody>
      </p:sp>
      <p:pic>
        <p:nvPicPr>
          <p:cNvPr id="7" name="Picture 6" descr="P04_Calibration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232" y="1481328"/>
            <a:ext cx="8205831" cy="426110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988552" y="1664207"/>
            <a:ext cx="26060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80576" y="178308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C7B74"/>
                </a:solidFill>
                <a:latin typeface="DejaVu Sans"/>
              </a:rPr>
              <a:t>0.931–0.993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576" y="224942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Noto Sans CJK SC"/>
              </a:rPr>
              <a:t>CC年度 R²cal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88552" y="2852928"/>
            <a:ext cx="26060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0576" y="297180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0C7B74"/>
                </a:solidFill>
                <a:latin typeface="DejaVu Sans"/>
              </a:rPr>
              <a:t>0.969–0.997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0576" y="343814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Noto Sans CJK SC"/>
              </a:rPr>
              <a:t>生物量年度 R²cal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88552" y="4041648"/>
            <a:ext cx="2606040" cy="1005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80576" y="4160520"/>
            <a:ext cx="22585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0C7B74"/>
                </a:solidFill>
                <a:latin typeface="DejaVu Sans"/>
              </a:rPr>
              <a:t>−4.18%–0.92%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0576" y="4626864"/>
            <a:ext cx="2258568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Noto Sans CJK SC"/>
              </a:rPr>
              <a:t>年度产量相对偏差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" y="5843016"/>
            <a:ext cx="11155680" cy="512064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6" y="5943600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Noto Sans CJK SC"/>
              </a:rPr>
              <a:t>过程拟合与分布采样精度分别评价；参数中心用于本轮确定性模拟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RESULT 02  /  SOBOL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产量主导参数的年度排序保持一致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共同独立均匀输入范围；N=512 × 3随机化序列；四年61,440次模型评估。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05 / 08</a:t>
            </a:r>
          </a:p>
        </p:txBody>
      </p:sp>
      <p:pic>
        <p:nvPicPr>
          <p:cNvPr id="7" name="Picture 6" descr="P05_Sobol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9241" y="1508760"/>
            <a:ext cx="9201324" cy="42062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" y="5843016"/>
            <a:ext cx="11155680" cy="512064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943600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Noto Sans CJK SC"/>
              </a:rPr>
              <a:t>晚期WP → HI0 → 早期WP → Kcb：年平均排序一致，贡献幅度存在年际变化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RESULT 03  /  FIVE-STAGE NSGA-III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五期优化形成四年灌水—产量候选前沿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全范围展示前沿：3种子×80个体×60代/年；正式95%门槛候选：5种子最终种群可行非支配解并集。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06 / 08</a:t>
            </a:r>
          </a:p>
        </p:txBody>
      </p:sp>
      <p:pic>
        <p:nvPicPr>
          <p:cNvPr id="7" name="Picture 6" descr="P06_Pareto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799" y="1426464"/>
            <a:ext cx="7134704" cy="43708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079992" y="1554480"/>
            <a:ext cx="2505456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647C77"/>
                </a:solidFill>
                <a:latin typeface="Noto Sans CJK SC"/>
              </a:rPr>
              <a:t>95%观测产量门槛下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34272" y="2048256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89720" y="2139696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87BA3"/>
                </a:solidFill>
                <a:latin typeface="DejaVu Sans"/>
              </a:rPr>
              <a:t>2019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03536" y="2121408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3D3B"/>
                </a:solidFill>
                <a:latin typeface="DejaVu Sans"/>
              </a:rPr>
              <a:t>209.83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91088" y="2523744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mm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2880360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9718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E892E"/>
                </a:solidFill>
                <a:latin typeface="DejaVu Sans"/>
              </a:rPr>
              <a:t>2020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03536" y="2953512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3D3B"/>
                </a:solidFill>
                <a:latin typeface="DejaVu Sans"/>
              </a:rPr>
              <a:t>306.50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91088" y="3355848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mm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3712464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3803904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A9178"/>
                </a:solidFill>
                <a:latin typeface="DejaVu Sans"/>
              </a:rPr>
              <a:t>2021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03536" y="3785616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3D3B"/>
                </a:solidFill>
                <a:latin typeface="DejaVu Sans"/>
              </a:rPr>
              <a:t>264.50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91088" y="4187952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mm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34272" y="4544568"/>
            <a:ext cx="2578608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89720" y="4636008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9565A6"/>
                </a:solidFill>
                <a:latin typeface="DejaVu Sans"/>
              </a:rPr>
              <a:t>2022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03536" y="461772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3D3B"/>
                </a:solidFill>
                <a:latin typeface="DejaVu Sans"/>
              </a:rPr>
              <a:t>257.47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91088" y="5020056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mm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12064" y="5843016"/>
            <a:ext cx="11155680" cy="512064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943600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Noto Sans CJK SC"/>
              </a:rPr>
              <a:t>每期0–3次，日期与水量联合调整；候选对应完整的逐次灌水日程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MECHANISM  /  WATER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储水核算解释低灌水高产平台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对照保持同一年天气、参数中心和初始水分；储水核算范围为相同0–2.4 m模拟剖面。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07 / 08</a:t>
            </a:r>
          </a:p>
        </p:txBody>
      </p:sp>
      <p:pic>
        <p:nvPicPr>
          <p:cNvPr id="7" name="Picture 6" descr="P07_Water_components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39" y="1508760"/>
            <a:ext cx="6373048" cy="422452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680960" y="1636776"/>
            <a:ext cx="3904487" cy="394106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7848" y="1837943"/>
            <a:ext cx="340156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3D3B"/>
                </a:solidFill>
                <a:latin typeface="Noto Sans CJK SC"/>
              </a:rPr>
              <a:t>2021 水量账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27848" y="2404872"/>
            <a:ext cx="3401568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0C7B74"/>
                </a:solidFill>
                <a:latin typeface="Noto Sans CJK SC"/>
              </a:rPr>
              <a:t>少灌 368.97 mm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927848" y="3054096"/>
            <a:ext cx="3392424" cy="0"/>
          </a:xfrm>
          <a:prstGeom prst="line">
            <a:avLst/>
          </a:prstGeom>
          <a:ln w="1016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927848" y="3310128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0C7B74"/>
                </a:solidFill>
                <a:latin typeface="DejaVu Sans"/>
              </a:rPr>
              <a:t>356.85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64624" y="3401568"/>
            <a:ext cx="17830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Noto Sans CJK SC"/>
              </a:rPr>
              <a:t>季末储水差 / mm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7848" y="4050791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D39A43"/>
                </a:solidFill>
                <a:latin typeface="DejaVu Sans"/>
              </a:rPr>
              <a:t>11.46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64624" y="4142231"/>
            <a:ext cx="17830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Noto Sans CJK SC"/>
              </a:rPr>
              <a:t>ET下降 / mm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7848" y="4782312"/>
            <a:ext cx="1572768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47C77"/>
                </a:solidFill>
                <a:latin typeface="DejaVu Sans"/>
              </a:rPr>
              <a:t>0.66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64624" y="4873752"/>
            <a:ext cx="1783080" cy="2834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647C77"/>
                </a:solidFill>
                <a:latin typeface="Noto Sans CJK SC"/>
              </a:rPr>
              <a:t>其他损失差 / mm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" y="5843016"/>
            <a:ext cx="11155680" cy="512064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" y="5943600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Noto Sans CJK SC"/>
              </a:rPr>
              <a:t>ET下降1.89%–5.98%；季末储水差解释81.09%–96.72%的减灌量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CONCLUSIONS  /  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过程可复现，决策可细化，机制可解释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项目组：吴雨臻、李承昊、段璞  ·  指导教师：廖人宽  ·  中国农业大学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08 / 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938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2633472"/>
            <a:ext cx="31546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3D3B"/>
                </a:solidFill>
                <a:latin typeface="Noto Sans CJK SC"/>
              </a:rPr>
              <a:t>过程可复现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3246120"/>
            <a:ext cx="315468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Noto Sans CJK SC"/>
              </a:rPr>
              <a:t>四年多指标校准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Noto Sans CJK SC"/>
              </a:rPr>
              <a:t>主要生长与产量轨迹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7136" y="1938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17136" y="2633472"/>
            <a:ext cx="31546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3D3B"/>
                </a:solidFill>
                <a:latin typeface="Noto Sans CJK SC"/>
              </a:rPr>
              <a:t>决策可细化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3246120"/>
            <a:ext cx="315468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Noto Sans CJK SC"/>
              </a:rPr>
              <a:t>五期、逐次日期与水量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Noto Sans CJK SC"/>
              </a:rPr>
              <a:t>形成完整候选日程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4" y="1719072"/>
            <a:ext cx="3575304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11896" y="1938528"/>
            <a:ext cx="82296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0C7B74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1896" y="2633472"/>
            <a:ext cx="315468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163D3B"/>
                </a:solidFill>
                <a:latin typeface="Noto Sans CJK SC"/>
              </a:rPr>
              <a:t>机制可解释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3246120"/>
            <a:ext cx="3154680" cy="6766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Noto Sans CJK SC"/>
              </a:rPr>
              <a:t>分解减灌量的组成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647C77"/>
                </a:solidFill>
                <a:latin typeface="Noto Sans CJK SC"/>
              </a:rPr>
              <a:t>明确储水缓冲的作用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" y="4572000"/>
            <a:ext cx="137160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0C7B74"/>
                </a:solidFill>
                <a:latin typeface="Noto Sans CJK SC"/>
              </a:rPr>
              <a:t>下一步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4553712"/>
            <a:ext cx="9473184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163D3B"/>
                </a:solidFill>
                <a:latin typeface="Noto Sans CJK SC"/>
              </a:rPr>
              <a:t>提升采样精度，结合季末储水、单次供水能力与灌水间隔细化实施方案。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" y="5650992"/>
            <a:ext cx="11155680" cy="603504"/>
          </a:xfrm>
          <a:prstGeom prst="roundRect">
            <a:avLst>
              <a:gd name="adj" fmla="val 12000"/>
            </a:avLst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769864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Noto Sans CJK SC"/>
              </a:rPr>
              <a:t>感谢各位老师，恳请批评指正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BACKUP  /  SETTINGS AND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备答1｜模型设定与原链诊断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诊断：[15]；按时间轴比较独立ensemble的同编号walker组，组间依赖不作简单累加。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B1 /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618488"/>
            <a:ext cx="41148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Noto Sans CJK SC"/>
              </a:rPr>
              <a:t>主模型固定设置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258568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Noto Sans CJK SC"/>
              </a:rPr>
              <a:t>覆膜覆盖率 75%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274320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Noto Sans CJK SC"/>
              </a:rPr>
              <a:t>fMulch = 0：结构复现基线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3227832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Noto Sans CJK SC"/>
              </a:rPr>
              <a:t>Zmin = 0.30 m；Zmax = 2.30 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712464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Noto Sans CJK SC"/>
              </a:rPr>
              <a:t>模拟土壤剖面深度 2.4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4197096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Noto Sans CJK SC"/>
              </a:rPr>
              <a:t>第一阶段4组；第二阶段1组/年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71616" y="1581912"/>
            <a:ext cx="5532120" cy="39959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819656"/>
            <a:ext cx="5047488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63D3B"/>
                </a:solidFill>
                <a:latin typeface="Noto Sans CJK SC"/>
              </a:rPr>
              <a:t>四年第一阶段时间序列诊断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441448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47C77"/>
                </a:solidFill>
                <a:latin typeface="Noto Sans CJK SC"/>
              </a:rPr>
              <a:t>年份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16368" y="2441448"/>
            <a:ext cx="146304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47C77"/>
                </a:solidFill>
                <a:latin typeface="Noto Sans CJK SC"/>
              </a:rPr>
              <a:t>最差 R̂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62872" y="2441448"/>
            <a:ext cx="210312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647C77"/>
                </a:solidFill>
                <a:latin typeface="Noto Sans CJK SC"/>
              </a:rPr>
              <a:t>最小组 bulk 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345936" y="2862072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364224" y="2953512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A3"/>
                </a:solidFill>
                <a:latin typeface="DejaVu Sans"/>
              </a:rPr>
              <a:t>2019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2953512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1.181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2953512"/>
            <a:ext cx="14356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17.79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345936" y="3374136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364224" y="3465576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E892E"/>
                </a:solidFill>
                <a:latin typeface="DejaVu Sans"/>
              </a:rPr>
              <a:t>2020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3465576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1.174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3465576"/>
            <a:ext cx="14356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19.18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345936" y="3886200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364224" y="3977639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A9178"/>
                </a:solidFill>
                <a:latin typeface="DejaVu Sans"/>
              </a:rPr>
              <a:t>2021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26096" y="3977639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1.124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3977639"/>
            <a:ext cx="14356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24.94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45936" y="4398264"/>
            <a:ext cx="4956048" cy="0"/>
          </a:xfrm>
          <a:prstGeom prst="line">
            <a:avLst/>
          </a:prstGeom>
          <a:ln w="7620">
            <a:solidFill>
              <a:srgbClr val="D9E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364224" y="4489704"/>
            <a:ext cx="914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9565A6"/>
                </a:solidFill>
                <a:latin typeface="DejaVu Sans"/>
              </a:rPr>
              <a:t>2022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26096" y="4489704"/>
            <a:ext cx="13258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1.122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4489704"/>
            <a:ext cx="1435608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163D3B"/>
                </a:solidFill>
                <a:latin typeface="DejaVu Sans"/>
              </a:rPr>
              <a:t>25.34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45936" y="515721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>
                <a:solidFill>
                  <a:srgbClr val="647C77"/>
                </a:solidFill>
                <a:latin typeface="Noto Sans CJK SC"/>
              </a:rPr>
              <a:t>参考：R̂ &lt; 1.01；bulk/tail ESS ≥ 400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12064" y="5843016"/>
            <a:ext cx="11155680" cy="512064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" y="5943600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Noto Sans CJK SC"/>
              </a:rPr>
              <a:t>参数中心的过程拟合与分布采样精度分开报告；后续重点提升有效样本量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BACKUP  /  INDIVIDUAL-EVENT CALENDAR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备答2｜每次灌水日期与水量均已输出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42条正水量记录完整保留；≥0.1 mm事件数另计。完整日期、水量及五期合计见随附数据工作簿。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B2 / B4</a:t>
            </a:r>
          </a:p>
        </p:txBody>
      </p:sp>
      <p:pic>
        <p:nvPicPr>
          <p:cNvPr id="7" name="Picture 6" descr="B02_Irrigation_calendar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006" y="1499616"/>
            <a:ext cx="9530362" cy="42885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12064" y="5843016"/>
            <a:ext cx="11155680" cy="512064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2376" y="5943600"/>
            <a:ext cx="107442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C7B74"/>
                </a:solidFill>
                <a:latin typeface="Noto Sans CJK SC"/>
              </a:rPr>
              <a:t>2021年 ≥0.1 mm：6/15 92.959 mm；6/28 85.822 mm；7/29 85.634 mm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BACKUP  / 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备答3｜三个关键问题的回答口径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回答依据：四年主结果、原链诊断、逐日水量账与条件结构试验；不混用不同模型设定。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B3 / B4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1207" y="1554480"/>
            <a:ext cx="1109167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2376" y="1746504"/>
            <a:ext cx="68580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DejaVu San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7048" y="1719072"/>
            <a:ext cx="973836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3D3B"/>
                </a:solidFill>
                <a:latin typeface="Noto Sans CJK SC"/>
              </a:rPr>
              <a:t>300 mm左右维持高产，是否过于理想？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7048" y="2212848"/>
            <a:ext cx="973836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647C77"/>
                </a:solidFill>
                <a:latin typeface="Noto Sans CJK SC"/>
              </a:rPr>
              <a:t>固定初值与年度天气下，储水能够缓冲供水；2021年减灌中96.72%对应季末储水差。进一步结合季末储水、设备能力与间隔条件筛选田间方案。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7" y="2990088"/>
            <a:ext cx="1109167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22376" y="3182112"/>
            <a:ext cx="68580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DejaVu San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27048" y="3154680"/>
            <a:ext cx="973836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3D3B"/>
                </a:solidFill>
                <a:latin typeface="Noto Sans CJK SC"/>
              </a:rPr>
              <a:t>MCMC的拟合好，是否就意味着链已收敛？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27048" y="3648456"/>
            <a:ext cx="973836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647C77"/>
                </a:solidFill>
                <a:latin typeface="Noto Sans CJK SC"/>
              </a:rPr>
              <a:t>分别报告过程拟合、参数中心稳定性和时间序列诊断。原链bulk ESS偏低，后续结合可辨识性、独立初始化与误差结构提高采样精度。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" y="4425696"/>
            <a:ext cx="11091672" cy="1234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9E4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6" y="4617720"/>
            <a:ext cx="685800" cy="3749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0C7B74"/>
                </a:solidFill>
                <a:latin typeface="DejaVu San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7048" y="4590288"/>
            <a:ext cx="9738360" cy="3566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63D3B"/>
                </a:solidFill>
                <a:latin typeface="Noto Sans CJK SC"/>
              </a:rPr>
              <a:t>为什么按五期优化，却有些期没有明显灌水？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27048" y="5084064"/>
            <a:ext cx="9738360" cy="4846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530" b="0">
                <a:solidFill>
                  <a:srgbClr val="647C77"/>
                </a:solidFill>
                <a:latin typeface="Noto Sans CJK SC"/>
              </a:rPr>
              <a:t>五期对应田间生育进程；每期0–3次，零量允许取消。30维日期—水量控制空间由优化分配事件，不要求每期固定灌一次或灌满三次。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28600"/>
            <a:ext cx="1005840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47C77"/>
                </a:solidFill>
                <a:latin typeface="DejaVu Sans"/>
              </a:rPr>
              <a:t>REFERENCES  /  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2064" y="640080"/>
            <a:ext cx="11201400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163D3B"/>
                </a:solidFill>
                <a:latin typeface="Noto Sans CJK SC"/>
              </a:rPr>
              <a:t>主要参考文献与成果入口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1252728"/>
            <a:ext cx="594360" cy="32004"/>
          </a:xfrm>
          <a:prstGeom prst="rect">
            <a:avLst/>
          </a:prstGeom>
          <a:solidFill>
            <a:srgbClr val="0C7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4" y="6556248"/>
            <a:ext cx="103327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930" b="0">
                <a:solidFill>
                  <a:srgbClr val="647C77"/>
                </a:solidFill>
                <a:latin typeface="Noto Sans CJK SC"/>
              </a:rPr>
              <a:t>编号沿用当前中英文论文；完整文献证据与数据来源随稿归档。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19672"/>
            <a:ext cx="694944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647C77"/>
                </a:solidFill>
                <a:latin typeface="DejaVu Sans"/>
              </a:rPr>
              <a:t>B4 / B4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554480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[1]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" y="1554480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王尚今. 不同灌溉方式下覆膜玉米田水热氮传输及作物生长的观测与模拟[D]. 北京: 中国农业大学, 2023.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2587752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[3]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" y="2587752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Steduto, P., Hsiao, T. C., Raes, D., &amp; Fereres, E. (2009). AquaCrop—The FAO crop model to simulate yield response to water: I. Concepts and underlying principles. Agronomy Journal, 101(3), 426–437. DOI: 10.2134/agronj2008.0139s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" y="3621024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[4]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" y="3621024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Kelly, T. D., &amp; Foster, T. (2021). AquaCrop-OSPy: Bridging the gap between research and practice in crop-water modeling. Agricultural Water Management, 254, 106976. DOI: 10.1016/j.agwat.2021.106976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" y="4654296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[5]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" y="4654296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Foreman-Mackey, D., Hogg, D. W., Lang, D., &amp; Goodman, J. (2013). emcee: The MCMC Hammer. Publications of the Astronomical Society of the Pacific, 125, 306–312. DOI: 10.1086/670067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0216" y="1554480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[6]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3136" y="1554480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Sobol’, I. M. (2001). Global sensitivity indices for nonlinear mathematical models and their Monte Carlo estimates. Mathematics and Computers in Simulation, 55(1–3), 271–280. DOI: 10.1016/S0378-4754(00)00270-6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587752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[8]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3136" y="2587752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Deb, K., Pratap, A., Agarwal, S., &amp; Meyarivan, T. (2002). A fast and elitist multiobjective genetic algorithm: NSGA-II. IEEE Transactions on Evolutionary Computation, 6(2), 182–197. DOI: 10.1109/4235.996017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216" y="3621024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[9]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03136" y="3621024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Deb, K., &amp; Jain, H. (2014). An evolutionary many-objective optimization algorithm using reference-point-based nondominated sorting approach, Part I: Solving problems with box constraints. IEEE Transactions on Evolutionary Computation, 18(4), 577–601. DOI: 10.1109/TEVC.2013.2281535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0216" y="4654296"/>
            <a:ext cx="44805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C7B74"/>
                </a:solidFill>
                <a:latin typeface="DejaVu Sans"/>
              </a:rPr>
              <a:t>[15]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03136" y="4654296"/>
            <a:ext cx="4882896" cy="9418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163D3B"/>
                </a:solidFill>
                <a:latin typeface="Noto Sans CJK SC"/>
              </a:rPr>
              <a:t>Vehtari A, Gelman A, Simpson D, Carpenter B, Bürkner P C. Rank-normalization, folding, and localization: An improved R̂ for assessing convergence of MCMC[J]. Bayesian Analysis, 2021, 16(2): 667–718. DOI: 10.1214/20-BA1221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21207" y="5806440"/>
            <a:ext cx="11082528" cy="530352"/>
          </a:xfrm>
          <a:prstGeom prst="roundRect">
            <a:avLst>
              <a:gd name="adj" fmla="val 12000"/>
            </a:avLst>
          </a:prstGeom>
          <a:solidFill>
            <a:srgbClr val="E7F1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916168"/>
            <a:ext cx="10652760" cy="30175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C7B74"/>
                </a:solidFill>
                <a:latin typeface="Noto Sans CJK SC"/>
                <a:hlinkClick r:id="rId2"/>
              </a:rPr>
              <a:t>完整论文、原始资料与代码：GitHub · yuzhenwu920-afk/URP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膜下滴灌玉米灌溉制度优化｜URP五分钟答辩</dc:title>
  <dc:subject>8 main slides, 300 seconds; 4 backup slides; verified five-stage results</dc:subject>
  <dc:creator>吴雨臻；李承昊；段璞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